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972800" cy="320040"/>
          </a:xfrm>
          <a:prstGeom prst="rect">
            <a:avLst/>
          </a:prstGeom>
          <a:noFill/>
        </p:spPr>
        <p:txBody>
          <a:bodyPr wrap="square">
            <a:spAutoFit/>
          </a:bodyPr>
          <a:lstStyle/>
          <a:p>
            <a:pPr algn="l"/>
            <a:r>
              <a:rPr sz="1400" b="1">
                <a:solidFill>
                  <a:srgbClr val="93C5FD"/>
                </a:solidFill>
                <a:latin typeface="Calibri"/>
              </a:rPr>
              <a:t>ACCENTURE INNOVATION CHALLENGE 2026  ·  ROUND 2  ·  TRACK 1</a:t>
            </a:r>
          </a:p>
        </p:txBody>
      </p:sp>
      <p:sp>
        <p:nvSpPr>
          <p:cNvPr id="5" name="TextBox 4"/>
          <p:cNvSpPr txBox="1"/>
          <p:nvPr/>
        </p:nvSpPr>
        <p:spPr>
          <a:xfrm>
            <a:off x="640080" y="1691640"/>
            <a:ext cx="10972800" cy="822960"/>
          </a:xfrm>
          <a:prstGeom prst="rect">
            <a:avLst/>
          </a:prstGeom>
          <a:noFill/>
        </p:spPr>
        <p:txBody>
          <a:bodyPr wrap="square">
            <a:spAutoFit/>
          </a:bodyPr>
          <a:lstStyle/>
          <a:p>
            <a:pPr algn="l"/>
            <a:r>
              <a:rPr sz="4800" b="1">
                <a:solidFill>
                  <a:srgbClr val="FFFFFF"/>
                </a:solidFill>
                <a:latin typeface="Calibri"/>
              </a:rPr>
              <a:t>ControlPlane.ai</a:t>
            </a:r>
          </a:p>
        </p:txBody>
      </p:sp>
      <p:sp>
        <p:nvSpPr>
          <p:cNvPr id="6" name="TextBox 5"/>
          <p:cNvSpPr txBox="1"/>
          <p:nvPr/>
        </p:nvSpPr>
        <p:spPr>
          <a:xfrm>
            <a:off x="640080" y="2514600"/>
            <a:ext cx="10972800" cy="457200"/>
          </a:xfrm>
          <a:prstGeom prst="rect">
            <a:avLst/>
          </a:prstGeom>
          <a:noFill/>
        </p:spPr>
        <p:txBody>
          <a:bodyPr wrap="square">
            <a:spAutoFit/>
          </a:bodyPr>
          <a:lstStyle/>
          <a:p>
            <a:pPr algn="l"/>
            <a:r>
              <a:rPr sz="2200" b="0">
                <a:solidFill>
                  <a:srgbClr val="C7D2FE"/>
                </a:solidFill>
                <a:latin typeface="Calibri"/>
              </a:rPr>
              <a:t>Enterprise AI Governance &amp; Runtime Risk Control Plane</a:t>
            </a:r>
          </a:p>
        </p:txBody>
      </p:sp>
      <p:sp>
        <p:nvSpPr>
          <p:cNvPr id="7" name="TextBox 6"/>
          <p:cNvSpPr txBox="1"/>
          <p:nvPr/>
        </p:nvSpPr>
        <p:spPr>
          <a:xfrm>
            <a:off x="640080" y="3200400"/>
            <a:ext cx="10515600" cy="1005840"/>
          </a:xfrm>
          <a:prstGeom prst="rect">
            <a:avLst/>
          </a:prstGeom>
          <a:noFill/>
        </p:spPr>
        <p:txBody>
          <a:bodyPr wrap="square">
            <a:spAutoFit/>
          </a:bodyPr>
          <a:lstStyle/>
          <a:p>
            <a:pPr algn="l"/>
            <a:r>
              <a:rPr sz="1600" b="0">
                <a:solidFill>
                  <a:srgbClr val="FFFFFF"/>
                </a:solidFill>
                <a:latin typeface="Calibri"/>
              </a:rPr>
              <a:t>Detailed Business Proposal — problem framing, solution design, target users,
business case and impact, phased roadmap, and key risks with mitigations.</a:t>
            </a:r>
          </a:p>
        </p:txBody>
      </p:sp>
      <p:sp>
        <p:nvSpPr>
          <p:cNvPr id="8" name="Rounded Rectangle 7"/>
          <p:cNvSpPr/>
          <p:nvPr/>
        </p:nvSpPr>
        <p:spPr>
          <a:xfrm>
            <a:off x="640080" y="4709160"/>
            <a:ext cx="4023360" cy="64008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828032"/>
            <a:ext cx="4023360" cy="457200"/>
          </a:xfrm>
          <a:prstGeom prst="rect">
            <a:avLst/>
          </a:prstGeom>
          <a:noFill/>
        </p:spPr>
        <p:txBody>
          <a:bodyPr wrap="square">
            <a:spAutoFit/>
          </a:bodyPr>
          <a:lstStyle/>
          <a:p>
            <a:pPr algn="ctr"/>
            <a:r>
              <a:rPr sz="1400" b="1">
                <a:solidFill>
                  <a:srgbClr val="FFFFFF"/>
                </a:solidFill>
                <a:latin typeface="Calibri"/>
              </a:rPr>
              <a:t>Working prototype  ·  Simulated data</a:t>
            </a:r>
          </a:p>
        </p:txBody>
      </p:sp>
      <p:sp>
        <p:nvSpPr>
          <p:cNvPr id="10" name="TextBox 9"/>
          <p:cNvSpPr txBox="1"/>
          <p:nvPr/>
        </p:nvSpPr>
        <p:spPr>
          <a:xfrm>
            <a:off x="640080" y="5623560"/>
            <a:ext cx="10058400" cy="365760"/>
          </a:xfrm>
          <a:prstGeom prst="rect">
            <a:avLst/>
          </a:prstGeom>
          <a:noFill/>
        </p:spPr>
        <p:txBody>
          <a:bodyPr wrap="square">
            <a:spAutoFit/>
          </a:bodyPr>
          <a:lstStyle/>
          <a:p>
            <a:pPr algn="l"/>
            <a:r>
              <a:rPr sz="1400" b="0">
                <a:solidFill>
                  <a:srgbClr val="BFDBFE"/>
                </a:solidFill>
                <a:latin typeface="Calibri"/>
              </a:rPr>
              <a:t>Do not ask “Is this AI response safe?”  Ask: safe for whom, under which policy, with what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Agenda</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What this proposal covers</a:t>
            </a:r>
          </a:p>
        </p:txBody>
      </p:sp>
      <p:sp>
        <p:nvSpPr>
          <p:cNvPr id="7" name="Rounded Rectangle 6"/>
          <p:cNvSpPr/>
          <p:nvPr/>
        </p:nvSpPr>
        <p:spPr>
          <a:xfrm>
            <a:off x="411480" y="123444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35608"/>
            <a:ext cx="914400" cy="365760"/>
          </a:xfrm>
          <a:prstGeom prst="rect">
            <a:avLst/>
          </a:prstGeom>
          <a:noFill/>
        </p:spPr>
        <p:txBody>
          <a:bodyPr wrap="square">
            <a:spAutoFit/>
          </a:bodyPr>
          <a:lstStyle/>
          <a:p>
            <a:pPr algn="l"/>
            <a:r>
              <a:rPr sz="2200" b="1">
                <a:solidFill>
                  <a:srgbClr val="3B5BDB"/>
                </a:solidFill>
                <a:latin typeface="Calibri"/>
              </a:rPr>
              <a:t>01</a:t>
            </a:r>
          </a:p>
        </p:txBody>
      </p:sp>
      <p:sp>
        <p:nvSpPr>
          <p:cNvPr id="9" name="TextBox 8"/>
          <p:cNvSpPr txBox="1"/>
          <p:nvPr/>
        </p:nvSpPr>
        <p:spPr>
          <a:xfrm>
            <a:off x="1508760" y="1490472"/>
            <a:ext cx="4206240" cy="365760"/>
          </a:xfrm>
          <a:prstGeom prst="rect">
            <a:avLst/>
          </a:prstGeom>
          <a:noFill/>
        </p:spPr>
        <p:txBody>
          <a:bodyPr wrap="square">
            <a:spAutoFit/>
          </a:bodyPr>
          <a:lstStyle/>
          <a:p>
            <a:pPr algn="l"/>
            <a:r>
              <a:rPr sz="1800" b="1">
                <a:solidFill>
                  <a:srgbClr val="1E2F6E"/>
                </a:solidFill>
                <a:latin typeface="Calibri"/>
              </a:rPr>
              <a:t>Problem framing</a:t>
            </a:r>
          </a:p>
        </p:txBody>
      </p:sp>
      <p:sp>
        <p:nvSpPr>
          <p:cNvPr id="10" name="TextBox 9"/>
          <p:cNvSpPr txBox="1"/>
          <p:nvPr/>
        </p:nvSpPr>
        <p:spPr>
          <a:xfrm>
            <a:off x="1508760" y="1920240"/>
            <a:ext cx="4206240" cy="502920"/>
          </a:xfrm>
          <a:prstGeom prst="rect">
            <a:avLst/>
          </a:prstGeom>
          <a:noFill/>
        </p:spPr>
        <p:txBody>
          <a:bodyPr wrap="square">
            <a:spAutoFit/>
          </a:bodyPr>
          <a:lstStyle/>
          <a:p>
            <a:pPr algn="l"/>
            <a:r>
              <a:rPr sz="1300" b="0">
                <a:solidFill>
                  <a:srgbClr val="475569"/>
                </a:solidFill>
                <a:latin typeface="Calibri"/>
              </a:rPr>
              <a:t>Why one generic AI checker fails in a multi-application enterprise</a:t>
            </a:r>
          </a:p>
        </p:txBody>
      </p:sp>
      <p:sp>
        <p:nvSpPr>
          <p:cNvPr id="11" name="Rounded Rectangle 10"/>
          <p:cNvSpPr/>
          <p:nvPr/>
        </p:nvSpPr>
        <p:spPr>
          <a:xfrm>
            <a:off x="6263640" y="123444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435608"/>
            <a:ext cx="914400" cy="365760"/>
          </a:xfrm>
          <a:prstGeom prst="rect">
            <a:avLst/>
          </a:prstGeom>
          <a:noFill/>
        </p:spPr>
        <p:txBody>
          <a:bodyPr wrap="square">
            <a:spAutoFit/>
          </a:bodyPr>
          <a:lstStyle/>
          <a:p>
            <a:pPr algn="l"/>
            <a:r>
              <a:rPr sz="2200" b="1">
                <a:solidFill>
                  <a:srgbClr val="3B5BDB"/>
                </a:solidFill>
                <a:latin typeface="Calibri"/>
              </a:rPr>
              <a:t>02</a:t>
            </a:r>
          </a:p>
        </p:txBody>
      </p:sp>
      <p:sp>
        <p:nvSpPr>
          <p:cNvPr id="13" name="TextBox 12"/>
          <p:cNvSpPr txBox="1"/>
          <p:nvPr/>
        </p:nvSpPr>
        <p:spPr>
          <a:xfrm>
            <a:off x="7360920" y="1490472"/>
            <a:ext cx="4206240" cy="365760"/>
          </a:xfrm>
          <a:prstGeom prst="rect">
            <a:avLst/>
          </a:prstGeom>
          <a:noFill/>
        </p:spPr>
        <p:txBody>
          <a:bodyPr wrap="square">
            <a:spAutoFit/>
          </a:bodyPr>
          <a:lstStyle/>
          <a:p>
            <a:pPr algn="l"/>
            <a:r>
              <a:rPr sz="1800" b="1">
                <a:solidFill>
                  <a:srgbClr val="1E2F6E"/>
                </a:solidFill>
                <a:latin typeface="Calibri"/>
              </a:rPr>
              <a:t>Solution design</a:t>
            </a:r>
          </a:p>
        </p:txBody>
      </p:sp>
      <p:sp>
        <p:nvSpPr>
          <p:cNvPr id="14" name="TextBox 13"/>
          <p:cNvSpPr txBox="1"/>
          <p:nvPr/>
        </p:nvSpPr>
        <p:spPr>
          <a:xfrm>
            <a:off x="7360920" y="1920240"/>
            <a:ext cx="4206240" cy="502920"/>
          </a:xfrm>
          <a:prstGeom prst="rect">
            <a:avLst/>
          </a:prstGeom>
          <a:noFill/>
        </p:spPr>
        <p:txBody>
          <a:bodyPr wrap="square">
            <a:spAutoFit/>
          </a:bodyPr>
          <a:lstStyle/>
          <a:p>
            <a:pPr algn="l"/>
            <a:r>
              <a:rPr sz="1300" b="0">
                <a:solidFill>
                  <a:srgbClr val="475569"/>
                </a:solidFill>
                <a:latin typeface="Calibri"/>
              </a:rPr>
              <a:t>Hybrid detectors, policy engine, ALLOW / EDIT / FLAG / BLOCK</a:t>
            </a:r>
          </a:p>
        </p:txBody>
      </p:sp>
      <p:sp>
        <p:nvSpPr>
          <p:cNvPr id="15" name="Rounded Rectangle 14"/>
          <p:cNvSpPr/>
          <p:nvPr/>
        </p:nvSpPr>
        <p:spPr>
          <a:xfrm>
            <a:off x="411480" y="288036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081528"/>
            <a:ext cx="914400" cy="365760"/>
          </a:xfrm>
          <a:prstGeom prst="rect">
            <a:avLst/>
          </a:prstGeom>
          <a:noFill/>
        </p:spPr>
        <p:txBody>
          <a:bodyPr wrap="square">
            <a:spAutoFit/>
          </a:bodyPr>
          <a:lstStyle/>
          <a:p>
            <a:pPr algn="l"/>
            <a:r>
              <a:rPr sz="2200" b="1">
                <a:solidFill>
                  <a:srgbClr val="3B5BDB"/>
                </a:solidFill>
                <a:latin typeface="Calibri"/>
              </a:rPr>
              <a:t>03</a:t>
            </a:r>
          </a:p>
        </p:txBody>
      </p:sp>
      <p:sp>
        <p:nvSpPr>
          <p:cNvPr id="17" name="TextBox 16"/>
          <p:cNvSpPr txBox="1"/>
          <p:nvPr/>
        </p:nvSpPr>
        <p:spPr>
          <a:xfrm>
            <a:off x="1508760" y="3136392"/>
            <a:ext cx="4206240" cy="365760"/>
          </a:xfrm>
          <a:prstGeom prst="rect">
            <a:avLst/>
          </a:prstGeom>
          <a:noFill/>
        </p:spPr>
        <p:txBody>
          <a:bodyPr wrap="square">
            <a:spAutoFit/>
          </a:bodyPr>
          <a:lstStyle/>
          <a:p>
            <a:pPr algn="l"/>
            <a:r>
              <a:rPr sz="1800" b="1">
                <a:solidFill>
                  <a:srgbClr val="1E2F6E"/>
                </a:solidFill>
                <a:latin typeface="Calibri"/>
              </a:rPr>
              <a:t>Target users</a:t>
            </a:r>
          </a:p>
        </p:txBody>
      </p:sp>
      <p:sp>
        <p:nvSpPr>
          <p:cNvPr id="18" name="TextBox 17"/>
          <p:cNvSpPr txBox="1"/>
          <p:nvPr/>
        </p:nvSpPr>
        <p:spPr>
          <a:xfrm>
            <a:off x="1508760" y="3566160"/>
            <a:ext cx="4206240" cy="502920"/>
          </a:xfrm>
          <a:prstGeom prst="rect">
            <a:avLst/>
          </a:prstGeom>
          <a:noFill/>
        </p:spPr>
        <p:txBody>
          <a:bodyPr wrap="square">
            <a:spAutoFit/>
          </a:bodyPr>
          <a:lstStyle/>
          <a:p>
            <a:pPr algn="l"/>
            <a:r>
              <a:rPr sz="1300" b="0">
                <a:solidFill>
                  <a:srgbClr val="475569"/>
                </a:solidFill>
                <a:latin typeface="Calibri"/>
              </a:rPr>
              <a:t>Governance, application owners, reviewers, end users, buyers</a:t>
            </a:r>
          </a:p>
        </p:txBody>
      </p:sp>
      <p:sp>
        <p:nvSpPr>
          <p:cNvPr id="19" name="Rounded Rectangle 18"/>
          <p:cNvSpPr/>
          <p:nvPr/>
        </p:nvSpPr>
        <p:spPr>
          <a:xfrm>
            <a:off x="6263640" y="288036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081528"/>
            <a:ext cx="914400" cy="365760"/>
          </a:xfrm>
          <a:prstGeom prst="rect">
            <a:avLst/>
          </a:prstGeom>
          <a:noFill/>
        </p:spPr>
        <p:txBody>
          <a:bodyPr wrap="square">
            <a:spAutoFit/>
          </a:bodyPr>
          <a:lstStyle/>
          <a:p>
            <a:pPr algn="l"/>
            <a:r>
              <a:rPr sz="2200" b="1">
                <a:solidFill>
                  <a:srgbClr val="3B5BDB"/>
                </a:solidFill>
                <a:latin typeface="Calibri"/>
              </a:rPr>
              <a:t>04</a:t>
            </a:r>
          </a:p>
        </p:txBody>
      </p:sp>
      <p:sp>
        <p:nvSpPr>
          <p:cNvPr id="21" name="TextBox 20"/>
          <p:cNvSpPr txBox="1"/>
          <p:nvPr/>
        </p:nvSpPr>
        <p:spPr>
          <a:xfrm>
            <a:off x="7360920" y="3136392"/>
            <a:ext cx="4206240" cy="365760"/>
          </a:xfrm>
          <a:prstGeom prst="rect">
            <a:avLst/>
          </a:prstGeom>
          <a:noFill/>
        </p:spPr>
        <p:txBody>
          <a:bodyPr wrap="square">
            <a:spAutoFit/>
          </a:bodyPr>
          <a:lstStyle/>
          <a:p>
            <a:pPr algn="l"/>
            <a:r>
              <a:rPr sz="1800" b="1">
                <a:solidFill>
                  <a:srgbClr val="1E2F6E"/>
                </a:solidFill>
                <a:latin typeface="Calibri"/>
              </a:rPr>
              <a:t>Business case</a:t>
            </a:r>
          </a:p>
        </p:txBody>
      </p:sp>
      <p:sp>
        <p:nvSpPr>
          <p:cNvPr id="22" name="TextBox 21"/>
          <p:cNvSpPr txBox="1"/>
          <p:nvPr/>
        </p:nvSpPr>
        <p:spPr>
          <a:xfrm>
            <a:off x="7360920" y="3566160"/>
            <a:ext cx="4206240" cy="502920"/>
          </a:xfrm>
          <a:prstGeom prst="rect">
            <a:avLst/>
          </a:prstGeom>
          <a:noFill/>
        </p:spPr>
        <p:txBody>
          <a:bodyPr wrap="square">
            <a:spAutoFit/>
          </a:bodyPr>
          <a:lstStyle/>
          <a:p>
            <a:pPr algn="l"/>
            <a:r>
              <a:rPr sz="1300" b="0">
                <a:solidFill>
                  <a:srgbClr val="475569"/>
                </a:solidFill>
                <a:latin typeface="Calibri"/>
              </a:rPr>
              <a:t>Risk avoidance, review-load reduction, trust, audit readiness</a:t>
            </a:r>
          </a:p>
        </p:txBody>
      </p:sp>
      <p:sp>
        <p:nvSpPr>
          <p:cNvPr id="23" name="Rounded Rectangle 22"/>
          <p:cNvSpPr/>
          <p:nvPr/>
        </p:nvSpPr>
        <p:spPr>
          <a:xfrm>
            <a:off x="411480" y="452628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727448"/>
            <a:ext cx="914400" cy="365760"/>
          </a:xfrm>
          <a:prstGeom prst="rect">
            <a:avLst/>
          </a:prstGeom>
          <a:noFill/>
        </p:spPr>
        <p:txBody>
          <a:bodyPr wrap="square">
            <a:spAutoFit/>
          </a:bodyPr>
          <a:lstStyle/>
          <a:p>
            <a:pPr algn="l"/>
            <a:r>
              <a:rPr sz="2200" b="1">
                <a:solidFill>
                  <a:srgbClr val="3B5BDB"/>
                </a:solidFill>
                <a:latin typeface="Calibri"/>
              </a:rPr>
              <a:t>05</a:t>
            </a:r>
          </a:p>
        </p:txBody>
      </p:sp>
      <p:sp>
        <p:nvSpPr>
          <p:cNvPr id="25" name="TextBox 24"/>
          <p:cNvSpPr txBox="1"/>
          <p:nvPr/>
        </p:nvSpPr>
        <p:spPr>
          <a:xfrm>
            <a:off x="1508760" y="4782312"/>
            <a:ext cx="4206240" cy="365760"/>
          </a:xfrm>
          <a:prstGeom prst="rect">
            <a:avLst/>
          </a:prstGeom>
          <a:noFill/>
        </p:spPr>
        <p:txBody>
          <a:bodyPr wrap="square">
            <a:spAutoFit/>
          </a:bodyPr>
          <a:lstStyle/>
          <a:p>
            <a:pPr algn="l"/>
            <a:r>
              <a:rPr sz="1800" b="1">
                <a:solidFill>
                  <a:srgbClr val="1E2F6E"/>
                </a:solidFill>
                <a:latin typeface="Calibri"/>
              </a:rPr>
              <a:t>Phased roadmap</a:t>
            </a:r>
          </a:p>
        </p:txBody>
      </p:sp>
      <p:sp>
        <p:nvSpPr>
          <p:cNvPr id="26" name="TextBox 25"/>
          <p:cNvSpPr txBox="1"/>
          <p:nvPr/>
        </p:nvSpPr>
        <p:spPr>
          <a:xfrm>
            <a:off x="1508760" y="5212080"/>
            <a:ext cx="4206240" cy="502920"/>
          </a:xfrm>
          <a:prstGeom prst="rect">
            <a:avLst/>
          </a:prstGeom>
          <a:noFill/>
        </p:spPr>
        <p:txBody>
          <a:bodyPr wrap="square">
            <a:spAutoFit/>
          </a:bodyPr>
          <a:lstStyle/>
          <a:p>
            <a:pPr algn="l"/>
            <a:r>
              <a:rPr sz="1300" b="0">
                <a:solidFill>
                  <a:srgbClr val="475569"/>
                </a:solidFill>
                <a:latin typeface="Calibri"/>
              </a:rPr>
              <a:t>Prototype → 90-day pilot → production → agents → platform</a:t>
            </a:r>
          </a:p>
        </p:txBody>
      </p:sp>
      <p:sp>
        <p:nvSpPr>
          <p:cNvPr id="27" name="Rounded Rectangle 26"/>
          <p:cNvSpPr/>
          <p:nvPr/>
        </p:nvSpPr>
        <p:spPr>
          <a:xfrm>
            <a:off x="6263640" y="4526280"/>
            <a:ext cx="5577840"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727448"/>
            <a:ext cx="914400" cy="365760"/>
          </a:xfrm>
          <a:prstGeom prst="rect">
            <a:avLst/>
          </a:prstGeom>
          <a:noFill/>
        </p:spPr>
        <p:txBody>
          <a:bodyPr wrap="square">
            <a:spAutoFit/>
          </a:bodyPr>
          <a:lstStyle/>
          <a:p>
            <a:pPr algn="l"/>
            <a:r>
              <a:rPr sz="2200" b="1">
                <a:solidFill>
                  <a:srgbClr val="3B5BDB"/>
                </a:solidFill>
                <a:latin typeface="Calibri"/>
              </a:rPr>
              <a:t>06</a:t>
            </a:r>
          </a:p>
        </p:txBody>
      </p:sp>
      <p:sp>
        <p:nvSpPr>
          <p:cNvPr id="29" name="TextBox 28"/>
          <p:cNvSpPr txBox="1"/>
          <p:nvPr/>
        </p:nvSpPr>
        <p:spPr>
          <a:xfrm>
            <a:off x="7360920" y="4782312"/>
            <a:ext cx="4206240" cy="365760"/>
          </a:xfrm>
          <a:prstGeom prst="rect">
            <a:avLst/>
          </a:prstGeom>
          <a:noFill/>
        </p:spPr>
        <p:txBody>
          <a:bodyPr wrap="square">
            <a:spAutoFit/>
          </a:bodyPr>
          <a:lstStyle/>
          <a:p>
            <a:pPr algn="l"/>
            <a:r>
              <a:rPr sz="1800" b="1">
                <a:solidFill>
                  <a:srgbClr val="1E2F6E"/>
                </a:solidFill>
                <a:latin typeface="Calibri"/>
              </a:rPr>
              <a:t>Risks &amp; mitigations</a:t>
            </a:r>
          </a:p>
        </p:txBody>
      </p:sp>
      <p:sp>
        <p:nvSpPr>
          <p:cNvPr id="30" name="TextBox 29"/>
          <p:cNvSpPr txBox="1"/>
          <p:nvPr/>
        </p:nvSpPr>
        <p:spPr>
          <a:xfrm>
            <a:off x="7360920" y="5212080"/>
            <a:ext cx="4206240" cy="502920"/>
          </a:xfrm>
          <a:prstGeom prst="rect">
            <a:avLst/>
          </a:prstGeom>
          <a:noFill/>
        </p:spPr>
        <p:txBody>
          <a:bodyPr wrap="square">
            <a:spAutoFit/>
          </a:bodyPr>
          <a:lstStyle/>
          <a:p>
            <a:pPr algn="l"/>
            <a:r>
              <a:rPr sz="1300" b="0">
                <a:solidFill>
                  <a:srgbClr val="475569"/>
                </a:solidFill>
                <a:latin typeface="Calibri"/>
              </a:rPr>
              <a:t>Over-flagging, under-flagging, latency, regulation, integration</a:t>
            </a:r>
          </a:p>
        </p:txBody>
      </p:sp>
      <p:sp>
        <p:nvSpPr>
          <p:cNvPr id="31" name="Rectangle 30"/>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3" name="TextBox 32"/>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1. Executive summary</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A control plane, not a one-size-fits-all filter</a:t>
            </a:r>
          </a:p>
        </p:txBody>
      </p:sp>
      <p:sp>
        <p:nvSpPr>
          <p:cNvPr id="7" name="TextBox 6"/>
          <p:cNvSpPr txBox="1"/>
          <p:nvPr/>
        </p:nvSpPr>
        <p:spPr>
          <a:xfrm>
            <a:off x="457200" y="1143000"/>
            <a:ext cx="11247120" cy="640080"/>
          </a:xfrm>
          <a:prstGeom prst="rect">
            <a:avLst/>
          </a:prstGeom>
          <a:noFill/>
        </p:spPr>
        <p:txBody>
          <a:bodyPr wrap="square">
            <a:spAutoFit/>
          </a:bodyPr>
          <a:lstStyle/>
          <a:p>
            <a:pPr algn="l"/>
            <a:r>
              <a:rPr sz="1500" b="0">
                <a:solidFill>
                  <a:srgbClr val="1E293B"/>
                </a:solidFill>
                <a:latin typeface="Calibri"/>
              </a:rPr>
              <a:t>Enterprises now run many AI systems at once — customer chatbots, employee copilots and decision-support tools. Each has a different risk tolerance. A single generic safety filter either over-flags support chats or under-protects high-impact decisions.</a:t>
            </a:r>
          </a:p>
        </p:txBody>
      </p:sp>
      <p:sp>
        <p:nvSpPr>
          <p:cNvPr id="8" name="Rounded Rectangle 7"/>
          <p:cNvSpPr/>
          <p:nvPr/>
        </p:nvSpPr>
        <p:spPr>
          <a:xfrm>
            <a:off x="411480" y="1874519"/>
            <a:ext cx="11338560" cy="123444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874519"/>
            <a:ext cx="73152" cy="123444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984247"/>
            <a:ext cx="11045952" cy="292608"/>
          </a:xfrm>
          <a:prstGeom prst="rect">
            <a:avLst/>
          </a:prstGeom>
          <a:noFill/>
        </p:spPr>
        <p:txBody>
          <a:bodyPr wrap="square">
            <a:spAutoFit/>
          </a:bodyPr>
          <a:lstStyle/>
          <a:p>
            <a:pPr algn="l"/>
            <a:r>
              <a:rPr sz="1300" b="1">
                <a:solidFill>
                  <a:srgbClr val="1E2F6E"/>
                </a:solidFill>
                <a:latin typeface="Calibri"/>
              </a:rPr>
              <a:t>Product</a:t>
            </a:r>
          </a:p>
        </p:txBody>
      </p:sp>
      <p:sp>
        <p:nvSpPr>
          <p:cNvPr id="11" name="TextBox 10"/>
          <p:cNvSpPr txBox="1"/>
          <p:nvPr/>
        </p:nvSpPr>
        <p:spPr>
          <a:xfrm>
            <a:off x="612648" y="2276855"/>
            <a:ext cx="11009376" cy="758952"/>
          </a:xfrm>
          <a:prstGeom prst="rect">
            <a:avLst/>
          </a:prstGeom>
          <a:noFill/>
        </p:spPr>
        <p:txBody>
          <a:bodyPr wrap="square">
            <a:spAutoFit/>
          </a:bodyPr>
          <a:lstStyle/>
          <a:p>
            <a:r>
              <a:rPr sz="1200" b="0">
                <a:solidFill>
                  <a:srgbClr val="475569"/>
                </a:solidFill>
                <a:latin typeface="Calibri"/>
              </a:rPr>
              <a:t>ControlPlane.ai intercepts each AI interaction, evaluates privacy, hallucination, bias and policy risk in parallel, scores the result against the application’s policy, and then allows, edits, flags for human review, or blocks the output. Every decision is explained, evidenced, audited and overridable.</a:t>
            </a:r>
          </a:p>
        </p:txBody>
      </p:sp>
      <p:sp>
        <p:nvSpPr>
          <p:cNvPr id="12" name="TextBox 11"/>
          <p:cNvSpPr txBox="1"/>
          <p:nvPr/>
        </p:nvSpPr>
        <p:spPr>
          <a:xfrm>
            <a:off x="457200" y="3246120"/>
            <a:ext cx="11247120" cy="640080"/>
          </a:xfrm>
          <a:prstGeom prst="rect">
            <a:avLst/>
          </a:prstGeom>
          <a:noFill/>
        </p:spPr>
        <p:txBody>
          <a:bodyPr wrap="square">
            <a:spAutoFit/>
          </a:bodyPr>
          <a:lstStyle/>
          <a:p>
            <a:pPr algn="l"/>
            <a:r>
              <a:rPr sz="1500" b="1">
                <a:solidFill>
                  <a:srgbClr val="1E2F6E"/>
                </a:solidFill>
                <a:latin typeface="Calibri"/>
              </a:rPr>
              <a:t>Core insight: do not ask “Is this AI response safe?” Ask: safe for whom, in which application, under which policy, with what evidence, at what confidence — and what should the enterprise do about it?</a:t>
            </a:r>
          </a:p>
        </p:txBody>
      </p:sp>
      <p:sp>
        <p:nvSpPr>
          <p:cNvPr id="13" name="Rounded Rectangle 12"/>
          <p:cNvSpPr/>
          <p:nvPr/>
        </p:nvSpPr>
        <p:spPr>
          <a:xfrm>
            <a:off x="411480" y="4023360"/>
            <a:ext cx="365760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02336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4133088"/>
            <a:ext cx="3364992" cy="292608"/>
          </a:xfrm>
          <a:prstGeom prst="rect">
            <a:avLst/>
          </a:prstGeom>
          <a:noFill/>
        </p:spPr>
        <p:txBody>
          <a:bodyPr wrap="square">
            <a:spAutoFit/>
          </a:bodyPr>
          <a:lstStyle/>
          <a:p>
            <a:pPr algn="l"/>
            <a:r>
              <a:rPr sz="1300" b="1">
                <a:solidFill>
                  <a:srgbClr val="1E2F6E"/>
                </a:solidFill>
                <a:latin typeface="Calibri"/>
              </a:rPr>
              <a:t>What exists now</a:t>
            </a:r>
          </a:p>
        </p:txBody>
      </p:sp>
      <p:sp>
        <p:nvSpPr>
          <p:cNvPr id="16" name="TextBox 15"/>
          <p:cNvSpPr txBox="1"/>
          <p:nvPr/>
        </p:nvSpPr>
        <p:spPr>
          <a:xfrm>
            <a:off x="612648" y="4425696"/>
            <a:ext cx="3328416" cy="1810512"/>
          </a:xfrm>
          <a:prstGeom prst="rect">
            <a:avLst/>
          </a:prstGeom>
          <a:noFill/>
        </p:spPr>
        <p:txBody>
          <a:bodyPr wrap="square">
            <a:spAutoFit/>
          </a:bodyPr>
          <a:lstStyle/>
          <a:p>
            <a:r>
              <a:rPr sz="1200" b="0">
                <a:solidFill>
                  <a:srgbClr val="475569"/>
                </a:solidFill>
                <a:latin typeface="Calibri"/>
              </a:rPr>
              <a:t>Working prototype on 3 simulated use cases, dashboard, review queue, policy simulator, RAG grounding, offline demo mode.</a:t>
            </a:r>
          </a:p>
        </p:txBody>
      </p:sp>
      <p:sp>
        <p:nvSpPr>
          <p:cNvPr id="17" name="Rounded Rectangle 16"/>
          <p:cNvSpPr/>
          <p:nvPr/>
        </p:nvSpPr>
        <p:spPr>
          <a:xfrm>
            <a:off x="4251960" y="4023360"/>
            <a:ext cx="365760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51960" y="402336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53128" y="4133088"/>
            <a:ext cx="3364992" cy="292608"/>
          </a:xfrm>
          <a:prstGeom prst="rect">
            <a:avLst/>
          </a:prstGeom>
          <a:noFill/>
        </p:spPr>
        <p:txBody>
          <a:bodyPr wrap="square">
            <a:spAutoFit/>
          </a:bodyPr>
          <a:lstStyle/>
          <a:p>
            <a:pPr algn="l"/>
            <a:r>
              <a:rPr sz="1300" b="1">
                <a:solidFill>
                  <a:srgbClr val="1E2F6E"/>
                </a:solidFill>
                <a:latin typeface="Calibri"/>
              </a:rPr>
              <a:t>Ask of this round</a:t>
            </a:r>
          </a:p>
        </p:txBody>
      </p:sp>
      <p:sp>
        <p:nvSpPr>
          <p:cNvPr id="20" name="TextBox 19"/>
          <p:cNvSpPr txBox="1"/>
          <p:nvPr/>
        </p:nvSpPr>
        <p:spPr>
          <a:xfrm>
            <a:off x="4453128" y="4425696"/>
            <a:ext cx="3328416" cy="1810512"/>
          </a:xfrm>
          <a:prstGeom prst="rect">
            <a:avLst/>
          </a:prstGeom>
          <a:noFill/>
        </p:spPr>
        <p:txBody>
          <a:bodyPr wrap="square">
            <a:spAutoFit/>
          </a:bodyPr>
          <a:lstStyle/>
          <a:p>
            <a:r>
              <a:rPr sz="1200" b="0">
                <a:solidFill>
                  <a:srgbClr val="475569"/>
                </a:solidFill>
                <a:latin typeface="Calibri"/>
              </a:rPr>
              <a:t>Accept ControlPlane.ai as a credible, demoable enterprise control-plane concept and advance to an enterprise-ready pilot.</a:t>
            </a:r>
          </a:p>
        </p:txBody>
      </p:sp>
      <p:sp>
        <p:nvSpPr>
          <p:cNvPr id="21" name="Rounded Rectangle 20"/>
          <p:cNvSpPr/>
          <p:nvPr/>
        </p:nvSpPr>
        <p:spPr>
          <a:xfrm>
            <a:off x="8092440" y="4023360"/>
            <a:ext cx="365760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92440" y="4023360"/>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3608" y="4133088"/>
            <a:ext cx="3364992" cy="292608"/>
          </a:xfrm>
          <a:prstGeom prst="rect">
            <a:avLst/>
          </a:prstGeom>
          <a:noFill/>
        </p:spPr>
        <p:txBody>
          <a:bodyPr wrap="square">
            <a:spAutoFit/>
          </a:bodyPr>
          <a:lstStyle/>
          <a:p>
            <a:pPr algn="l"/>
            <a:r>
              <a:rPr sz="1300" b="1">
                <a:solidFill>
                  <a:srgbClr val="1E2F6E"/>
                </a:solidFill>
                <a:latin typeface="Calibri"/>
              </a:rPr>
              <a:t>What we will not claim</a:t>
            </a:r>
          </a:p>
        </p:txBody>
      </p:sp>
      <p:sp>
        <p:nvSpPr>
          <p:cNvPr id="24" name="TextBox 23"/>
          <p:cNvSpPr txBox="1"/>
          <p:nvPr/>
        </p:nvSpPr>
        <p:spPr>
          <a:xfrm>
            <a:off x="8293608" y="4425696"/>
            <a:ext cx="3328416" cy="1810512"/>
          </a:xfrm>
          <a:prstGeom prst="rect">
            <a:avLst/>
          </a:prstGeom>
          <a:noFill/>
        </p:spPr>
        <p:txBody>
          <a:bodyPr wrap="square">
            <a:spAutoFit/>
          </a:bodyPr>
          <a:lstStyle/>
          <a:p>
            <a:r>
              <a:rPr sz="1200" b="0">
                <a:solidFill>
                  <a:srgbClr val="475569"/>
                </a:solidFill>
                <a:latin typeface="Calibri"/>
              </a:rPr>
              <a:t>No fake production accuracy. No “full GDPR engine.” Simulated data and illustrative planning figures only.</a:t>
            </a:r>
          </a:p>
        </p:txBody>
      </p:sp>
      <p:sp>
        <p:nvSpPr>
          <p:cNvPr id="25" name="Rectangle 24"/>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7" name="TextBox 26"/>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2. Problem framing</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The enterprise problem is ungoverned AI at scale</a:t>
            </a:r>
          </a:p>
        </p:txBody>
      </p:sp>
      <p:sp>
        <p:nvSpPr>
          <p:cNvPr id="7" name="Rounded Rectangle 6"/>
          <p:cNvSpPr/>
          <p:nvPr/>
        </p:nvSpPr>
        <p:spPr>
          <a:xfrm>
            <a:off x="3657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73152" cy="22402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98448"/>
            <a:ext cx="3410712" cy="292608"/>
          </a:xfrm>
          <a:prstGeom prst="rect">
            <a:avLst/>
          </a:prstGeom>
          <a:noFill/>
        </p:spPr>
        <p:txBody>
          <a:bodyPr wrap="square">
            <a:spAutoFit/>
          </a:bodyPr>
          <a:lstStyle/>
          <a:p>
            <a:pPr algn="l"/>
            <a:r>
              <a:rPr sz="1300" b="1">
                <a:solidFill>
                  <a:srgbClr val="1E2F6E"/>
                </a:solidFill>
                <a:latin typeface="Calibri"/>
              </a:rPr>
              <a:t>Hallucinated facts</a:t>
            </a:r>
          </a:p>
        </p:txBody>
      </p:sp>
      <p:sp>
        <p:nvSpPr>
          <p:cNvPr id="10" name="TextBox 9"/>
          <p:cNvSpPr txBox="1"/>
          <p:nvPr/>
        </p:nvSpPr>
        <p:spPr>
          <a:xfrm>
            <a:off x="566928" y="1591056"/>
            <a:ext cx="3374136" cy="1764792"/>
          </a:xfrm>
          <a:prstGeom prst="rect">
            <a:avLst/>
          </a:prstGeom>
          <a:noFill/>
        </p:spPr>
        <p:txBody>
          <a:bodyPr wrap="square">
            <a:spAutoFit/>
          </a:bodyPr>
          <a:lstStyle/>
          <a:p>
            <a:r>
              <a:rPr sz="1200" b="0">
                <a:solidFill>
                  <a:srgbClr val="475569"/>
                </a:solidFill>
                <a:latin typeface="Calibri"/>
              </a:rPr>
              <a:t>Invented leave, refund, warranty or credit rules enter real workflows.</a:t>
            </a:r>
          </a:p>
        </p:txBody>
      </p:sp>
      <p:sp>
        <p:nvSpPr>
          <p:cNvPr id="11" name="Rounded Rectangle 10"/>
          <p:cNvSpPr/>
          <p:nvPr/>
        </p:nvSpPr>
        <p:spPr>
          <a:xfrm>
            <a:off x="42519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188720"/>
            <a:ext cx="73152" cy="22402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1298448"/>
            <a:ext cx="3410712" cy="292608"/>
          </a:xfrm>
          <a:prstGeom prst="rect">
            <a:avLst/>
          </a:prstGeom>
          <a:noFill/>
        </p:spPr>
        <p:txBody>
          <a:bodyPr wrap="square">
            <a:spAutoFit/>
          </a:bodyPr>
          <a:lstStyle/>
          <a:p>
            <a:pPr algn="l"/>
            <a:r>
              <a:rPr sz="1300" b="1">
                <a:solidFill>
                  <a:srgbClr val="1E2F6E"/>
                </a:solidFill>
                <a:latin typeface="Calibri"/>
              </a:rPr>
              <a:t>Privacy leaks</a:t>
            </a:r>
          </a:p>
        </p:txBody>
      </p:sp>
      <p:sp>
        <p:nvSpPr>
          <p:cNvPr id="14" name="TextBox 13"/>
          <p:cNvSpPr txBox="1"/>
          <p:nvPr/>
        </p:nvSpPr>
        <p:spPr>
          <a:xfrm>
            <a:off x="4453128" y="1591056"/>
            <a:ext cx="3374136" cy="1764792"/>
          </a:xfrm>
          <a:prstGeom prst="rect">
            <a:avLst/>
          </a:prstGeom>
          <a:noFill/>
        </p:spPr>
        <p:txBody>
          <a:bodyPr wrap="square">
            <a:spAutoFit/>
          </a:bodyPr>
          <a:lstStyle/>
          <a:p>
            <a:r>
              <a:rPr sz="1200" b="0">
                <a:solidFill>
                  <a:srgbClr val="475569"/>
                </a:solidFill>
                <a:latin typeface="Calibri"/>
              </a:rPr>
              <a:t>Phone, salary, medical or bank details appear in an otherwise ordinary answer.</a:t>
            </a:r>
          </a:p>
        </p:txBody>
      </p:sp>
      <p:sp>
        <p:nvSpPr>
          <p:cNvPr id="15" name="Rounded Rectangle 14"/>
          <p:cNvSpPr/>
          <p:nvPr/>
        </p:nvSpPr>
        <p:spPr>
          <a:xfrm>
            <a:off x="81381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188720"/>
            <a:ext cx="73152" cy="22402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298448"/>
            <a:ext cx="3410712" cy="292608"/>
          </a:xfrm>
          <a:prstGeom prst="rect">
            <a:avLst/>
          </a:prstGeom>
          <a:noFill/>
        </p:spPr>
        <p:txBody>
          <a:bodyPr wrap="square">
            <a:spAutoFit/>
          </a:bodyPr>
          <a:lstStyle/>
          <a:p>
            <a:pPr algn="l"/>
            <a:r>
              <a:rPr sz="1300" b="1">
                <a:solidFill>
                  <a:srgbClr val="1E2F6E"/>
                </a:solidFill>
                <a:latin typeface="Calibri"/>
              </a:rPr>
              <a:t>Biased reasoning</a:t>
            </a:r>
          </a:p>
        </p:txBody>
      </p:sp>
      <p:sp>
        <p:nvSpPr>
          <p:cNvPr id="18" name="TextBox 17"/>
          <p:cNvSpPr txBox="1"/>
          <p:nvPr/>
        </p:nvSpPr>
        <p:spPr>
          <a:xfrm>
            <a:off x="8339328" y="1591056"/>
            <a:ext cx="3374136" cy="1764792"/>
          </a:xfrm>
          <a:prstGeom prst="rect">
            <a:avLst/>
          </a:prstGeom>
          <a:noFill/>
        </p:spPr>
        <p:txBody>
          <a:bodyPr wrap="square">
            <a:spAutoFit/>
          </a:bodyPr>
          <a:lstStyle/>
          <a:p>
            <a:r>
              <a:rPr sz="1200" b="0">
                <a:solidFill>
                  <a:srgbClr val="475569"/>
                </a:solidFill>
                <a:latin typeface="Calibri"/>
              </a:rPr>
              <a:t>Protected attributes used in hiring, lending or customer classification.</a:t>
            </a:r>
          </a:p>
        </p:txBody>
      </p:sp>
      <p:sp>
        <p:nvSpPr>
          <p:cNvPr id="19" name="Rounded Rectangle 18"/>
          <p:cNvSpPr/>
          <p:nvPr/>
        </p:nvSpPr>
        <p:spPr>
          <a:xfrm>
            <a:off x="3657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657600"/>
            <a:ext cx="73152" cy="22402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767328"/>
            <a:ext cx="3410712" cy="292608"/>
          </a:xfrm>
          <a:prstGeom prst="rect">
            <a:avLst/>
          </a:prstGeom>
          <a:noFill/>
        </p:spPr>
        <p:txBody>
          <a:bodyPr wrap="square">
            <a:spAutoFit/>
          </a:bodyPr>
          <a:lstStyle/>
          <a:p>
            <a:pPr algn="l"/>
            <a:r>
              <a:rPr sz="1300" b="1">
                <a:solidFill>
                  <a:srgbClr val="1E2F6E"/>
                </a:solidFill>
                <a:latin typeface="Calibri"/>
              </a:rPr>
              <a:t>Compounding turns</a:t>
            </a:r>
          </a:p>
        </p:txBody>
      </p:sp>
      <p:sp>
        <p:nvSpPr>
          <p:cNvPr id="22" name="TextBox 21"/>
          <p:cNvSpPr txBox="1"/>
          <p:nvPr/>
        </p:nvSpPr>
        <p:spPr>
          <a:xfrm>
            <a:off x="566928" y="4059936"/>
            <a:ext cx="3374136" cy="1764792"/>
          </a:xfrm>
          <a:prstGeom prst="rect">
            <a:avLst/>
          </a:prstGeom>
          <a:noFill/>
        </p:spPr>
        <p:txBody>
          <a:bodyPr wrap="square">
            <a:spAutoFit/>
          </a:bodyPr>
          <a:lstStyle/>
          <a:p>
            <a:r>
              <a:rPr sz="1200" b="0">
                <a:solidFill>
                  <a:srgbClr val="475569"/>
                </a:solidFill>
                <a:latin typeface="Calibri"/>
              </a:rPr>
              <a:t>A harmless first question becomes a high-risk request three turns later.</a:t>
            </a:r>
          </a:p>
        </p:txBody>
      </p:sp>
      <p:sp>
        <p:nvSpPr>
          <p:cNvPr id="23" name="Rounded Rectangle 22"/>
          <p:cNvSpPr/>
          <p:nvPr/>
        </p:nvSpPr>
        <p:spPr>
          <a:xfrm>
            <a:off x="42519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657600"/>
            <a:ext cx="73152" cy="224028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53128" y="3767328"/>
            <a:ext cx="3410712" cy="292608"/>
          </a:xfrm>
          <a:prstGeom prst="rect">
            <a:avLst/>
          </a:prstGeom>
          <a:noFill/>
        </p:spPr>
        <p:txBody>
          <a:bodyPr wrap="square">
            <a:spAutoFit/>
          </a:bodyPr>
          <a:lstStyle/>
          <a:p>
            <a:pPr algn="l"/>
            <a:r>
              <a:rPr sz="1300" b="1">
                <a:solidFill>
                  <a:srgbClr val="1E2F6E"/>
                </a:solidFill>
                <a:latin typeface="Calibri"/>
              </a:rPr>
              <a:t>Agentic actions</a:t>
            </a:r>
          </a:p>
        </p:txBody>
      </p:sp>
      <p:sp>
        <p:nvSpPr>
          <p:cNvPr id="26" name="TextBox 25"/>
          <p:cNvSpPr txBox="1"/>
          <p:nvPr/>
        </p:nvSpPr>
        <p:spPr>
          <a:xfrm>
            <a:off x="4453128" y="4059936"/>
            <a:ext cx="3374136" cy="1764792"/>
          </a:xfrm>
          <a:prstGeom prst="rect">
            <a:avLst/>
          </a:prstGeom>
          <a:noFill/>
        </p:spPr>
        <p:txBody>
          <a:bodyPr wrap="square">
            <a:spAutoFit/>
          </a:bodyPr>
          <a:lstStyle/>
          <a:p>
            <a:r>
              <a:rPr sz="1200" b="0">
                <a:solidFill>
                  <a:srgbClr val="475569"/>
                </a:solidFill>
                <a:latin typeface="Calibri"/>
              </a:rPr>
              <a:t>When AI can email, update CRM or approve a request, one bad output has real effect.</a:t>
            </a:r>
          </a:p>
        </p:txBody>
      </p:sp>
      <p:sp>
        <p:nvSpPr>
          <p:cNvPr id="27" name="Rounded Rectangle 26"/>
          <p:cNvSpPr/>
          <p:nvPr/>
        </p:nvSpPr>
        <p:spPr>
          <a:xfrm>
            <a:off x="81381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3657600"/>
            <a:ext cx="73152" cy="224028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8" y="3767328"/>
            <a:ext cx="3410712" cy="292608"/>
          </a:xfrm>
          <a:prstGeom prst="rect">
            <a:avLst/>
          </a:prstGeom>
          <a:noFill/>
        </p:spPr>
        <p:txBody>
          <a:bodyPr wrap="square">
            <a:spAutoFit/>
          </a:bodyPr>
          <a:lstStyle/>
          <a:p>
            <a:pPr algn="l"/>
            <a:r>
              <a:rPr sz="1300" b="1">
                <a:solidFill>
                  <a:srgbClr val="1E2F6E"/>
                </a:solidFill>
                <a:latin typeface="Calibri"/>
              </a:rPr>
              <a:t>Alert fatigue</a:t>
            </a:r>
          </a:p>
        </p:txBody>
      </p:sp>
      <p:sp>
        <p:nvSpPr>
          <p:cNvPr id="30" name="TextBox 29"/>
          <p:cNvSpPr txBox="1"/>
          <p:nvPr/>
        </p:nvSpPr>
        <p:spPr>
          <a:xfrm>
            <a:off x="8339328" y="4059936"/>
            <a:ext cx="3374136" cy="1764792"/>
          </a:xfrm>
          <a:prstGeom prst="rect">
            <a:avLst/>
          </a:prstGeom>
          <a:noFill/>
        </p:spPr>
        <p:txBody>
          <a:bodyPr wrap="square">
            <a:spAutoFit/>
          </a:bodyPr>
          <a:lstStyle/>
          <a:p>
            <a:r>
              <a:rPr sz="1200" b="0">
                <a:solidFill>
                  <a:srgbClr val="475569"/>
                </a:solidFill>
                <a:latin typeface="Calibri"/>
              </a:rPr>
              <a:t>A blunt checker flags too much; users bypass it and residual risk returns.</a:t>
            </a:r>
          </a:p>
        </p:txBody>
      </p:sp>
      <p:sp>
        <p:nvSpPr>
          <p:cNvPr id="31" name="Rectangle 30"/>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3" name="TextBox 32"/>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2.1 Why one-size-fits-all fails</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Different use cases have different risk signatures</a:t>
            </a:r>
          </a:p>
        </p:txBody>
      </p:sp>
      <p:sp>
        <p:nvSpPr>
          <p:cNvPr id="7" name="Rectangle 6"/>
          <p:cNvSpPr/>
          <p:nvPr/>
        </p:nvSpPr>
        <p:spPr>
          <a:xfrm>
            <a:off x="411480" y="1234440"/>
            <a:ext cx="11338560" cy="621792"/>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0744"/>
            <a:ext cx="2560320" cy="365760"/>
          </a:xfrm>
          <a:prstGeom prst="rect">
            <a:avLst/>
          </a:prstGeom>
          <a:noFill/>
        </p:spPr>
        <p:txBody>
          <a:bodyPr wrap="square">
            <a:spAutoFit/>
          </a:bodyPr>
          <a:lstStyle/>
          <a:p>
            <a:pPr algn="l"/>
            <a:r>
              <a:rPr sz="1300" b="1">
                <a:solidFill>
                  <a:srgbClr val="FFFFFF"/>
                </a:solidFill>
                <a:latin typeface="Calibri"/>
              </a:rPr>
              <a:t>Use case</a:t>
            </a:r>
          </a:p>
        </p:txBody>
      </p:sp>
      <p:sp>
        <p:nvSpPr>
          <p:cNvPr id="9" name="TextBox 8"/>
          <p:cNvSpPr txBox="1"/>
          <p:nvPr/>
        </p:nvSpPr>
        <p:spPr>
          <a:xfrm>
            <a:off x="3063240" y="1380744"/>
            <a:ext cx="4206240" cy="365760"/>
          </a:xfrm>
          <a:prstGeom prst="rect">
            <a:avLst/>
          </a:prstGeom>
          <a:noFill/>
        </p:spPr>
        <p:txBody>
          <a:bodyPr wrap="square">
            <a:spAutoFit/>
          </a:bodyPr>
          <a:lstStyle/>
          <a:p>
            <a:pPr algn="l"/>
            <a:r>
              <a:rPr sz="1300" b="1">
                <a:solidFill>
                  <a:srgbClr val="FFFFFF"/>
                </a:solidFill>
                <a:latin typeface="Calibri"/>
              </a:rPr>
              <a:t>Typical risk</a:t>
            </a:r>
          </a:p>
        </p:txBody>
      </p:sp>
      <p:sp>
        <p:nvSpPr>
          <p:cNvPr id="10" name="TextBox 9"/>
          <p:cNvSpPr txBox="1"/>
          <p:nvPr/>
        </p:nvSpPr>
        <p:spPr>
          <a:xfrm>
            <a:off x="7269480" y="1380744"/>
            <a:ext cx="2377440" cy="365760"/>
          </a:xfrm>
          <a:prstGeom prst="rect">
            <a:avLst/>
          </a:prstGeom>
          <a:noFill/>
        </p:spPr>
        <p:txBody>
          <a:bodyPr wrap="square">
            <a:spAutoFit/>
          </a:bodyPr>
          <a:lstStyle/>
          <a:p>
            <a:pPr algn="l"/>
            <a:r>
              <a:rPr sz="1300" b="1">
                <a:solidFill>
                  <a:srgbClr val="FFFFFF"/>
                </a:solidFill>
                <a:latin typeface="Calibri"/>
              </a:rPr>
              <a:t>Latency</a:t>
            </a:r>
          </a:p>
        </p:txBody>
      </p:sp>
      <p:sp>
        <p:nvSpPr>
          <p:cNvPr id="11" name="TextBox 10"/>
          <p:cNvSpPr txBox="1"/>
          <p:nvPr/>
        </p:nvSpPr>
        <p:spPr>
          <a:xfrm>
            <a:off x="9646920" y="1380744"/>
            <a:ext cx="2194560" cy="365760"/>
          </a:xfrm>
          <a:prstGeom prst="rect">
            <a:avLst/>
          </a:prstGeom>
          <a:noFill/>
        </p:spPr>
        <p:txBody>
          <a:bodyPr wrap="square">
            <a:spAutoFit/>
          </a:bodyPr>
          <a:lstStyle/>
          <a:p>
            <a:pPr algn="l"/>
            <a:r>
              <a:rPr sz="1300" b="1">
                <a:solidFill>
                  <a:srgbClr val="FFFFFF"/>
                </a:solidFill>
                <a:latin typeface="Calibri"/>
              </a:rPr>
              <a:t>Oversight</a:t>
            </a:r>
          </a:p>
        </p:txBody>
      </p:sp>
      <p:sp>
        <p:nvSpPr>
          <p:cNvPr id="12" name="Rectangle 11"/>
          <p:cNvSpPr/>
          <p:nvPr/>
        </p:nvSpPr>
        <p:spPr>
          <a:xfrm>
            <a:off x="411480" y="1874519"/>
            <a:ext cx="113385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020823"/>
            <a:ext cx="2560320" cy="365760"/>
          </a:xfrm>
          <a:prstGeom prst="rect">
            <a:avLst/>
          </a:prstGeom>
          <a:noFill/>
        </p:spPr>
        <p:txBody>
          <a:bodyPr wrap="square">
            <a:spAutoFit/>
          </a:bodyPr>
          <a:lstStyle/>
          <a:p>
            <a:pPr algn="l"/>
            <a:r>
              <a:rPr sz="1300" b="0">
                <a:solidFill>
                  <a:srgbClr val="1E293B"/>
                </a:solidFill>
                <a:latin typeface="Calibri"/>
              </a:rPr>
              <a:t>Customer support chatbot</a:t>
            </a:r>
          </a:p>
        </p:txBody>
      </p:sp>
      <p:sp>
        <p:nvSpPr>
          <p:cNvPr id="14" name="TextBox 13"/>
          <p:cNvSpPr txBox="1"/>
          <p:nvPr/>
        </p:nvSpPr>
        <p:spPr>
          <a:xfrm>
            <a:off x="3063240" y="2020823"/>
            <a:ext cx="4206240" cy="365760"/>
          </a:xfrm>
          <a:prstGeom prst="rect">
            <a:avLst/>
          </a:prstGeom>
          <a:noFill/>
        </p:spPr>
        <p:txBody>
          <a:bodyPr wrap="square">
            <a:spAutoFit/>
          </a:bodyPr>
          <a:lstStyle/>
          <a:p>
            <a:pPr algn="l"/>
            <a:r>
              <a:rPr sz="1300" b="0">
                <a:solidFill>
                  <a:srgbClr val="1E293B"/>
                </a:solidFill>
                <a:latin typeface="Calibri"/>
              </a:rPr>
              <a:t>PII, wrong policy answers, brand harm</a:t>
            </a:r>
          </a:p>
        </p:txBody>
      </p:sp>
      <p:sp>
        <p:nvSpPr>
          <p:cNvPr id="15" name="TextBox 14"/>
          <p:cNvSpPr txBox="1"/>
          <p:nvPr/>
        </p:nvSpPr>
        <p:spPr>
          <a:xfrm>
            <a:off x="7269480" y="2020823"/>
            <a:ext cx="2377440" cy="365760"/>
          </a:xfrm>
          <a:prstGeom prst="rect">
            <a:avLst/>
          </a:prstGeom>
          <a:noFill/>
        </p:spPr>
        <p:txBody>
          <a:bodyPr wrap="square">
            <a:spAutoFit/>
          </a:bodyPr>
          <a:lstStyle/>
          <a:p>
            <a:pPr algn="l"/>
            <a:r>
              <a:rPr sz="1300" b="0">
                <a:solidFill>
                  <a:srgbClr val="1E293B"/>
                </a:solidFill>
                <a:latin typeface="Calibri"/>
              </a:rPr>
              <a:t>Tight, real-time</a:t>
            </a:r>
          </a:p>
        </p:txBody>
      </p:sp>
      <p:sp>
        <p:nvSpPr>
          <p:cNvPr id="16" name="TextBox 15"/>
          <p:cNvSpPr txBox="1"/>
          <p:nvPr/>
        </p:nvSpPr>
        <p:spPr>
          <a:xfrm>
            <a:off x="9646920" y="2020823"/>
            <a:ext cx="2194560" cy="365760"/>
          </a:xfrm>
          <a:prstGeom prst="rect">
            <a:avLst/>
          </a:prstGeom>
          <a:noFill/>
        </p:spPr>
        <p:txBody>
          <a:bodyPr wrap="square">
            <a:spAutoFit/>
          </a:bodyPr>
          <a:lstStyle/>
          <a:p>
            <a:pPr algn="l"/>
            <a:r>
              <a:rPr sz="1300" b="0">
                <a:solidFill>
                  <a:srgbClr val="1E293B"/>
                </a:solidFill>
                <a:latin typeface="Calibri"/>
              </a:rPr>
              <a:t>Moderate</a:t>
            </a:r>
          </a:p>
        </p:txBody>
      </p:sp>
      <p:sp>
        <p:nvSpPr>
          <p:cNvPr id="17" name="Rectangle 16"/>
          <p:cNvSpPr/>
          <p:nvPr/>
        </p:nvSpPr>
        <p:spPr>
          <a:xfrm>
            <a:off x="411480" y="2514600"/>
            <a:ext cx="113385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660904"/>
            <a:ext cx="2560320" cy="365760"/>
          </a:xfrm>
          <a:prstGeom prst="rect">
            <a:avLst/>
          </a:prstGeom>
          <a:noFill/>
        </p:spPr>
        <p:txBody>
          <a:bodyPr wrap="square">
            <a:spAutoFit/>
          </a:bodyPr>
          <a:lstStyle/>
          <a:p>
            <a:pPr algn="l"/>
            <a:r>
              <a:rPr sz="1300" b="0">
                <a:solidFill>
                  <a:srgbClr val="1E293B"/>
                </a:solidFill>
                <a:latin typeface="Calibri"/>
              </a:rPr>
              <a:t>Employee knowledge copilot</a:t>
            </a:r>
          </a:p>
        </p:txBody>
      </p:sp>
      <p:sp>
        <p:nvSpPr>
          <p:cNvPr id="19" name="TextBox 18"/>
          <p:cNvSpPr txBox="1"/>
          <p:nvPr/>
        </p:nvSpPr>
        <p:spPr>
          <a:xfrm>
            <a:off x="3063240" y="2660904"/>
            <a:ext cx="4206240" cy="365760"/>
          </a:xfrm>
          <a:prstGeom prst="rect">
            <a:avLst/>
          </a:prstGeom>
          <a:noFill/>
        </p:spPr>
        <p:txBody>
          <a:bodyPr wrap="square">
            <a:spAutoFit/>
          </a:bodyPr>
          <a:lstStyle/>
          <a:p>
            <a:pPr algn="l"/>
            <a:r>
              <a:rPr sz="1300" b="0">
                <a:solidFill>
                  <a:srgbClr val="1E293B"/>
                </a:solidFill>
                <a:latin typeface="Calibri"/>
              </a:rPr>
              <a:t>Internal data leakage, policy hallucination</a:t>
            </a:r>
          </a:p>
        </p:txBody>
      </p:sp>
      <p:sp>
        <p:nvSpPr>
          <p:cNvPr id="20" name="TextBox 19"/>
          <p:cNvSpPr txBox="1"/>
          <p:nvPr/>
        </p:nvSpPr>
        <p:spPr>
          <a:xfrm>
            <a:off x="7269480" y="2660904"/>
            <a:ext cx="2377440" cy="365760"/>
          </a:xfrm>
          <a:prstGeom prst="rect">
            <a:avLst/>
          </a:prstGeom>
          <a:noFill/>
        </p:spPr>
        <p:txBody>
          <a:bodyPr wrap="square">
            <a:spAutoFit/>
          </a:bodyPr>
          <a:lstStyle/>
          <a:p>
            <a:pPr algn="l"/>
            <a:r>
              <a:rPr sz="1300" b="0">
                <a:solidFill>
                  <a:srgbClr val="1E293B"/>
                </a:solidFill>
                <a:latin typeface="Calibri"/>
              </a:rPr>
              <a:t>Medium</a:t>
            </a:r>
          </a:p>
        </p:txBody>
      </p:sp>
      <p:sp>
        <p:nvSpPr>
          <p:cNvPr id="21" name="TextBox 20"/>
          <p:cNvSpPr txBox="1"/>
          <p:nvPr/>
        </p:nvSpPr>
        <p:spPr>
          <a:xfrm>
            <a:off x="9646920" y="2660904"/>
            <a:ext cx="2194560" cy="365760"/>
          </a:xfrm>
          <a:prstGeom prst="rect">
            <a:avLst/>
          </a:prstGeom>
          <a:noFill/>
        </p:spPr>
        <p:txBody>
          <a:bodyPr wrap="square">
            <a:spAutoFit/>
          </a:bodyPr>
          <a:lstStyle/>
          <a:p>
            <a:pPr algn="l"/>
            <a:r>
              <a:rPr sz="1300" b="0">
                <a:solidFill>
                  <a:srgbClr val="1E293B"/>
                </a:solidFill>
                <a:latin typeface="Calibri"/>
              </a:rPr>
              <a:t>Strict</a:t>
            </a:r>
          </a:p>
        </p:txBody>
      </p:sp>
      <p:sp>
        <p:nvSpPr>
          <p:cNvPr id="22" name="Rectangle 21"/>
          <p:cNvSpPr/>
          <p:nvPr/>
        </p:nvSpPr>
        <p:spPr>
          <a:xfrm>
            <a:off x="411480" y="3154679"/>
            <a:ext cx="113385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300983"/>
            <a:ext cx="2560320" cy="365760"/>
          </a:xfrm>
          <a:prstGeom prst="rect">
            <a:avLst/>
          </a:prstGeom>
          <a:noFill/>
        </p:spPr>
        <p:txBody>
          <a:bodyPr wrap="square">
            <a:spAutoFit/>
          </a:bodyPr>
          <a:lstStyle/>
          <a:p>
            <a:pPr algn="l"/>
            <a:r>
              <a:rPr sz="1300" b="0">
                <a:solidFill>
                  <a:srgbClr val="1E293B"/>
                </a:solidFill>
                <a:latin typeface="Calibri"/>
              </a:rPr>
              <a:t>Decision-support tool</a:t>
            </a:r>
          </a:p>
        </p:txBody>
      </p:sp>
      <p:sp>
        <p:nvSpPr>
          <p:cNvPr id="24" name="TextBox 23"/>
          <p:cNvSpPr txBox="1"/>
          <p:nvPr/>
        </p:nvSpPr>
        <p:spPr>
          <a:xfrm>
            <a:off x="3063240" y="3300983"/>
            <a:ext cx="4206240" cy="365760"/>
          </a:xfrm>
          <a:prstGeom prst="rect">
            <a:avLst/>
          </a:prstGeom>
          <a:noFill/>
        </p:spPr>
        <p:txBody>
          <a:bodyPr wrap="square">
            <a:spAutoFit/>
          </a:bodyPr>
          <a:lstStyle/>
          <a:p>
            <a:pPr algn="l"/>
            <a:r>
              <a:rPr sz="1300" b="0">
                <a:solidFill>
                  <a:srgbClr val="1E293B"/>
                </a:solidFill>
                <a:latin typeface="Calibri"/>
              </a:rPr>
              <a:t>Bias, unsupported recommendations, regulation</a:t>
            </a:r>
          </a:p>
        </p:txBody>
      </p:sp>
      <p:sp>
        <p:nvSpPr>
          <p:cNvPr id="25" name="TextBox 24"/>
          <p:cNvSpPr txBox="1"/>
          <p:nvPr/>
        </p:nvSpPr>
        <p:spPr>
          <a:xfrm>
            <a:off x="7269480" y="3300983"/>
            <a:ext cx="2377440" cy="365760"/>
          </a:xfrm>
          <a:prstGeom prst="rect">
            <a:avLst/>
          </a:prstGeom>
          <a:noFill/>
        </p:spPr>
        <p:txBody>
          <a:bodyPr wrap="square">
            <a:spAutoFit/>
          </a:bodyPr>
          <a:lstStyle/>
          <a:p>
            <a:pPr algn="l"/>
            <a:r>
              <a:rPr sz="1300" b="0">
                <a:solidFill>
                  <a:srgbClr val="1E293B"/>
                </a:solidFill>
                <a:latin typeface="Calibri"/>
              </a:rPr>
              <a:t>Can wait for review</a:t>
            </a:r>
          </a:p>
        </p:txBody>
      </p:sp>
      <p:sp>
        <p:nvSpPr>
          <p:cNvPr id="26" name="TextBox 25"/>
          <p:cNvSpPr txBox="1"/>
          <p:nvPr/>
        </p:nvSpPr>
        <p:spPr>
          <a:xfrm>
            <a:off x="9646920" y="3300983"/>
            <a:ext cx="2194560" cy="365760"/>
          </a:xfrm>
          <a:prstGeom prst="rect">
            <a:avLst/>
          </a:prstGeom>
          <a:noFill/>
        </p:spPr>
        <p:txBody>
          <a:bodyPr wrap="square">
            <a:spAutoFit/>
          </a:bodyPr>
          <a:lstStyle/>
          <a:p>
            <a:pPr algn="l"/>
            <a:r>
              <a:rPr sz="1300" b="0">
                <a:solidFill>
                  <a:srgbClr val="1E293B"/>
                </a:solidFill>
                <a:latin typeface="Calibri"/>
              </a:rPr>
              <a:t>Very strict</a:t>
            </a:r>
          </a:p>
        </p:txBody>
      </p:sp>
      <p:sp>
        <p:nvSpPr>
          <p:cNvPr id="27" name="TextBox 26"/>
          <p:cNvSpPr txBox="1"/>
          <p:nvPr/>
        </p:nvSpPr>
        <p:spPr>
          <a:xfrm>
            <a:off x="457200" y="4023360"/>
            <a:ext cx="11247120" cy="914400"/>
          </a:xfrm>
          <a:prstGeom prst="rect">
            <a:avLst/>
          </a:prstGeom>
          <a:noFill/>
        </p:spPr>
        <p:txBody>
          <a:bodyPr wrap="square">
            <a:spAutoFit/>
          </a:bodyPr>
          <a:lstStyle/>
          <a:p>
            <a:pPr algn="l"/>
            <a:r>
              <a:rPr sz="1600" b="0">
                <a:solidFill>
                  <a:srgbClr val="1E293B"/>
                </a:solidFill>
                <a:latin typeface="Calibri"/>
              </a:rPr>
              <a:t>A threshold strict enough for credit decisions over-flags ordinary support chats. A threshold loose enough for support under-protects hiring or lending. That is how alert fatigue and liability appear at the same time.</a:t>
            </a:r>
          </a:p>
        </p:txBody>
      </p:sp>
      <p:sp>
        <p:nvSpPr>
          <p:cNvPr id="28" name="Rounded Rectangle 27"/>
          <p:cNvSpPr/>
          <p:nvPr/>
        </p:nvSpPr>
        <p:spPr>
          <a:xfrm>
            <a:off x="411480" y="5074920"/>
            <a:ext cx="11338560" cy="1188720"/>
          </a:xfrm>
          <a:prstGeom prst="roundRect">
            <a:avLst>
              <a:gd name="adj" fmla="val 8000"/>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257800"/>
            <a:ext cx="10972800" cy="822960"/>
          </a:xfrm>
          <a:prstGeom prst="rect">
            <a:avLst/>
          </a:prstGeom>
          <a:noFill/>
        </p:spPr>
        <p:txBody>
          <a:bodyPr wrap="square">
            <a:spAutoFit/>
          </a:bodyPr>
          <a:lstStyle/>
          <a:p>
            <a:pPr algn="l"/>
            <a:r>
              <a:rPr sz="1500" b="1">
                <a:solidFill>
                  <a:srgbClr val="1E2F6E"/>
                </a:solidFill>
                <a:latin typeface="Calibri"/>
              </a:rPr>
              <a:t>ControlPlane.ai treats governance as context-aware policy. The same AI output can be FLAG under Customer Support, BLOCK under Employee Copilot, and HUMAN REVIEW under Decision Support.</a:t>
            </a:r>
          </a:p>
        </p:txBody>
      </p:sp>
      <p:sp>
        <p:nvSpPr>
          <p:cNvPr id="30" name="Rectangle 29"/>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2" name="TextBox 31"/>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2.2 Real-world complexities</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The Round 2 brief, designed into the product</a:t>
            </a:r>
          </a:p>
        </p:txBody>
      </p:sp>
      <p:sp>
        <p:nvSpPr>
          <p:cNvPr id="7" name="Rounded Rectangle 6"/>
          <p:cNvSpPr/>
          <p:nvPr/>
        </p:nvSpPr>
        <p:spPr>
          <a:xfrm>
            <a:off x="3657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98448"/>
            <a:ext cx="3410712" cy="292608"/>
          </a:xfrm>
          <a:prstGeom prst="rect">
            <a:avLst/>
          </a:prstGeom>
          <a:noFill/>
        </p:spPr>
        <p:txBody>
          <a:bodyPr wrap="square">
            <a:spAutoFit/>
          </a:bodyPr>
          <a:lstStyle/>
          <a:p>
            <a:pPr algn="l"/>
            <a:r>
              <a:rPr sz="1300" b="1">
                <a:solidFill>
                  <a:srgbClr val="1E2F6E"/>
                </a:solidFill>
                <a:latin typeface="Calibri"/>
              </a:rPr>
              <a:t>Overlapping risks</a:t>
            </a:r>
          </a:p>
        </p:txBody>
      </p:sp>
      <p:sp>
        <p:nvSpPr>
          <p:cNvPr id="10" name="TextBox 9"/>
          <p:cNvSpPr txBox="1"/>
          <p:nvPr/>
        </p:nvSpPr>
        <p:spPr>
          <a:xfrm>
            <a:off x="566928" y="1591056"/>
            <a:ext cx="3374136" cy="1764792"/>
          </a:xfrm>
          <a:prstGeom prst="rect">
            <a:avLst/>
          </a:prstGeom>
          <a:noFill/>
        </p:spPr>
        <p:txBody>
          <a:bodyPr wrap="square">
            <a:spAutoFit/>
          </a:bodyPr>
          <a:lstStyle/>
          <a:p>
            <a:r>
              <a:rPr sz="1200" b="0">
                <a:solidFill>
                  <a:srgbClr val="475569"/>
                </a:solidFill>
                <a:latin typeface="Calibri"/>
              </a:rPr>
              <a:t>A fabricated salary for a named employee is both hallucination and a privacy incident. Single-label classification is not enough.</a:t>
            </a:r>
          </a:p>
        </p:txBody>
      </p:sp>
      <p:sp>
        <p:nvSpPr>
          <p:cNvPr id="11" name="Rounded Rectangle 10"/>
          <p:cNvSpPr/>
          <p:nvPr/>
        </p:nvSpPr>
        <p:spPr>
          <a:xfrm>
            <a:off x="42519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18872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3128" y="1298448"/>
            <a:ext cx="3410712" cy="292608"/>
          </a:xfrm>
          <a:prstGeom prst="rect">
            <a:avLst/>
          </a:prstGeom>
          <a:noFill/>
        </p:spPr>
        <p:txBody>
          <a:bodyPr wrap="square">
            <a:spAutoFit/>
          </a:bodyPr>
          <a:lstStyle/>
          <a:p>
            <a:pPr algn="l"/>
            <a:r>
              <a:rPr sz="1300" b="1">
                <a:solidFill>
                  <a:srgbClr val="1E2F6E"/>
                </a:solidFill>
                <a:latin typeface="Calibri"/>
              </a:rPr>
              <a:t>No real-time ground truth</a:t>
            </a:r>
          </a:p>
        </p:txBody>
      </p:sp>
      <p:sp>
        <p:nvSpPr>
          <p:cNvPr id="14" name="TextBox 13"/>
          <p:cNvSpPr txBox="1"/>
          <p:nvPr/>
        </p:nvSpPr>
        <p:spPr>
          <a:xfrm>
            <a:off x="4453128" y="1591056"/>
            <a:ext cx="3374136" cy="1764792"/>
          </a:xfrm>
          <a:prstGeom prst="rect">
            <a:avLst/>
          </a:prstGeom>
          <a:noFill/>
        </p:spPr>
        <p:txBody>
          <a:bodyPr wrap="square">
            <a:spAutoFit/>
          </a:bodyPr>
          <a:lstStyle/>
          <a:p>
            <a:r>
              <a:rPr sz="1200" b="0">
                <a:solidFill>
                  <a:srgbClr val="475569"/>
                </a:solidFill>
                <a:latin typeface="Calibri"/>
              </a:rPr>
              <a:t>The same knowledge gaps that cause hallucination make verification hard. The system must be able to abstain.</a:t>
            </a:r>
          </a:p>
        </p:txBody>
      </p:sp>
      <p:sp>
        <p:nvSpPr>
          <p:cNvPr id="15" name="Rounded Rectangle 14"/>
          <p:cNvSpPr/>
          <p:nvPr/>
        </p:nvSpPr>
        <p:spPr>
          <a:xfrm>
            <a:off x="8138160" y="118872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18872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298448"/>
            <a:ext cx="3410712" cy="292608"/>
          </a:xfrm>
          <a:prstGeom prst="rect">
            <a:avLst/>
          </a:prstGeom>
          <a:noFill/>
        </p:spPr>
        <p:txBody>
          <a:bodyPr wrap="square">
            <a:spAutoFit/>
          </a:bodyPr>
          <a:lstStyle/>
          <a:p>
            <a:pPr algn="l"/>
            <a:r>
              <a:rPr sz="1300" b="1">
                <a:solidFill>
                  <a:srgbClr val="1E2F6E"/>
                </a:solidFill>
                <a:latin typeface="Calibri"/>
              </a:rPr>
              <a:t>Over- vs under-flagging</a:t>
            </a:r>
          </a:p>
        </p:txBody>
      </p:sp>
      <p:sp>
        <p:nvSpPr>
          <p:cNvPr id="18" name="TextBox 17"/>
          <p:cNvSpPr txBox="1"/>
          <p:nvPr/>
        </p:nvSpPr>
        <p:spPr>
          <a:xfrm>
            <a:off x="8339328" y="1591056"/>
            <a:ext cx="3374136" cy="1764792"/>
          </a:xfrm>
          <a:prstGeom prst="rect">
            <a:avLst/>
          </a:prstGeom>
          <a:noFill/>
        </p:spPr>
        <p:txBody>
          <a:bodyPr wrap="square">
            <a:spAutoFit/>
          </a:bodyPr>
          <a:lstStyle/>
          <a:p>
            <a:r>
              <a:rPr sz="1200" b="0">
                <a:solidFill>
                  <a:srgbClr val="475569"/>
                </a:solidFill>
                <a:latin typeface="Calibri"/>
              </a:rPr>
              <a:t>Too many warnings and users bypass the system. Too few and the enterprise is exposed. The tradeoff must be tunable.</a:t>
            </a:r>
          </a:p>
        </p:txBody>
      </p:sp>
      <p:sp>
        <p:nvSpPr>
          <p:cNvPr id="19" name="Rounded Rectangle 18"/>
          <p:cNvSpPr/>
          <p:nvPr/>
        </p:nvSpPr>
        <p:spPr>
          <a:xfrm>
            <a:off x="3657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65760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767328"/>
            <a:ext cx="3410712" cy="292608"/>
          </a:xfrm>
          <a:prstGeom prst="rect">
            <a:avLst/>
          </a:prstGeom>
          <a:noFill/>
        </p:spPr>
        <p:txBody>
          <a:bodyPr wrap="square">
            <a:spAutoFit/>
          </a:bodyPr>
          <a:lstStyle/>
          <a:p>
            <a:pPr algn="l"/>
            <a:r>
              <a:rPr sz="1300" b="1">
                <a:solidFill>
                  <a:srgbClr val="1E2F6E"/>
                </a:solidFill>
                <a:latin typeface="Calibri"/>
              </a:rPr>
              <a:t>Multi-turn and agents</a:t>
            </a:r>
          </a:p>
        </p:txBody>
      </p:sp>
      <p:sp>
        <p:nvSpPr>
          <p:cNvPr id="22" name="TextBox 21"/>
          <p:cNvSpPr txBox="1"/>
          <p:nvPr/>
        </p:nvSpPr>
        <p:spPr>
          <a:xfrm>
            <a:off x="566928" y="4059936"/>
            <a:ext cx="3374136" cy="1764792"/>
          </a:xfrm>
          <a:prstGeom prst="rect">
            <a:avLst/>
          </a:prstGeom>
          <a:noFill/>
        </p:spPr>
        <p:txBody>
          <a:bodyPr wrap="square">
            <a:spAutoFit/>
          </a:bodyPr>
          <a:lstStyle/>
          <a:p>
            <a:r>
              <a:rPr sz="1200" b="0">
                <a:solidFill>
                  <a:srgbClr val="475569"/>
                </a:solidFill>
                <a:latin typeface="Calibri"/>
              </a:rPr>
              <a:t>“Who is Rahul?” may be harmless. “What is his salary?” and “Give me his phone number” are not.</a:t>
            </a:r>
          </a:p>
        </p:txBody>
      </p:sp>
      <p:sp>
        <p:nvSpPr>
          <p:cNvPr id="23" name="Rounded Rectangle 22"/>
          <p:cNvSpPr/>
          <p:nvPr/>
        </p:nvSpPr>
        <p:spPr>
          <a:xfrm>
            <a:off x="42519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51960" y="365760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53128" y="3767328"/>
            <a:ext cx="3410712" cy="292608"/>
          </a:xfrm>
          <a:prstGeom prst="rect">
            <a:avLst/>
          </a:prstGeom>
          <a:noFill/>
        </p:spPr>
        <p:txBody>
          <a:bodyPr wrap="square">
            <a:spAutoFit/>
          </a:bodyPr>
          <a:lstStyle/>
          <a:p>
            <a:pPr algn="l"/>
            <a:r>
              <a:rPr sz="1300" b="1">
                <a:solidFill>
                  <a:srgbClr val="1E2F6E"/>
                </a:solidFill>
                <a:latin typeface="Calibri"/>
              </a:rPr>
              <a:t>Evolving regulation</a:t>
            </a:r>
          </a:p>
        </p:txBody>
      </p:sp>
      <p:sp>
        <p:nvSpPr>
          <p:cNvPr id="26" name="TextBox 25"/>
          <p:cNvSpPr txBox="1"/>
          <p:nvPr/>
        </p:nvSpPr>
        <p:spPr>
          <a:xfrm>
            <a:off x="4453128" y="4059936"/>
            <a:ext cx="3374136" cy="1764792"/>
          </a:xfrm>
          <a:prstGeom prst="rect">
            <a:avLst/>
          </a:prstGeom>
          <a:noFill/>
        </p:spPr>
        <p:txBody>
          <a:bodyPr wrap="square">
            <a:spAutoFit/>
          </a:bodyPr>
          <a:lstStyle/>
          <a:p>
            <a:r>
              <a:rPr sz="1200" b="0">
                <a:solidFill>
                  <a:srgbClr val="475569"/>
                </a:solidFill>
                <a:latin typeface="Calibri"/>
              </a:rPr>
              <a:t>Hard-coded legal engines age quickly. Configurable policy by geography and industry is more durable.</a:t>
            </a:r>
          </a:p>
        </p:txBody>
      </p:sp>
      <p:sp>
        <p:nvSpPr>
          <p:cNvPr id="27" name="Rounded Rectangle 26"/>
          <p:cNvSpPr/>
          <p:nvPr/>
        </p:nvSpPr>
        <p:spPr>
          <a:xfrm>
            <a:off x="8138160" y="3657600"/>
            <a:ext cx="3703320" cy="224028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3657600"/>
            <a:ext cx="73152" cy="224028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8" y="3767328"/>
            <a:ext cx="3410712" cy="292608"/>
          </a:xfrm>
          <a:prstGeom prst="rect">
            <a:avLst/>
          </a:prstGeom>
          <a:noFill/>
        </p:spPr>
        <p:txBody>
          <a:bodyPr wrap="square">
            <a:spAutoFit/>
          </a:bodyPr>
          <a:lstStyle/>
          <a:p>
            <a:pPr algn="l"/>
            <a:r>
              <a:rPr sz="1300" b="1">
                <a:solidFill>
                  <a:srgbClr val="1E2F6E"/>
                </a:solidFill>
                <a:latin typeface="Calibri"/>
              </a:rPr>
              <a:t>API-based models</a:t>
            </a:r>
          </a:p>
        </p:txBody>
      </p:sp>
      <p:sp>
        <p:nvSpPr>
          <p:cNvPr id="30" name="TextBox 29"/>
          <p:cNvSpPr txBox="1"/>
          <p:nvPr/>
        </p:nvSpPr>
        <p:spPr>
          <a:xfrm>
            <a:off x="8339328" y="4059936"/>
            <a:ext cx="3374136" cy="1764792"/>
          </a:xfrm>
          <a:prstGeom prst="rect">
            <a:avLst/>
          </a:prstGeom>
          <a:noFill/>
        </p:spPr>
        <p:txBody>
          <a:bodyPr wrap="square">
            <a:spAutoFit/>
          </a:bodyPr>
          <a:lstStyle/>
          <a:p>
            <a:r>
              <a:rPr sz="1200" b="0">
                <a:solidFill>
                  <a:srgbClr val="475569"/>
                </a:solidFill>
                <a:latin typeface="Calibri"/>
              </a:rPr>
              <a:t>Most enterprises consume foundation models through APIs. The control layer must work at the input/output boundary.</a:t>
            </a:r>
          </a:p>
        </p:txBody>
      </p:sp>
      <p:sp>
        <p:nvSpPr>
          <p:cNvPr id="31" name="Rectangle 30"/>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3" name="TextBox 32"/>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2.3 Operating assumptions</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Directional parameters from the Round 2 brief</a:t>
            </a:r>
          </a:p>
        </p:txBody>
      </p:sp>
      <p:sp>
        <p:nvSpPr>
          <p:cNvPr id="7" name="TextBox 6"/>
          <p:cNvSpPr txBox="1"/>
          <p:nvPr/>
        </p:nvSpPr>
        <p:spPr>
          <a:xfrm>
            <a:off x="457200" y="1188720"/>
            <a:ext cx="6583680" cy="2926080"/>
          </a:xfrm>
          <a:prstGeom prst="rect">
            <a:avLst/>
          </a:prstGeom>
          <a:noFill/>
        </p:spPr>
        <p:txBody>
          <a:bodyPr wrap="square">
            <a:spAutoFit/>
          </a:bodyPr>
          <a:lstStyle/>
          <a:p>
            <a:pPr>
              <a:spcAft>
                <a:spcPts val="800"/>
              </a:spcAft>
            </a:pPr>
            <a:r>
              <a:rPr sz="1600" b="0">
                <a:solidFill>
                  <a:srgbClr val="1E293B"/>
                </a:solidFill>
                <a:latin typeface="Calibri"/>
              </a:rPr>
              <a:t>•  At least three AI applications run at once</a:t>
            </a:r>
          </a:p>
          <a:p>
            <a:pPr>
              <a:spcAft>
                <a:spcPts val="800"/>
              </a:spcAft>
            </a:pPr>
            <a:r>
              <a:rPr sz="1600" b="0">
                <a:solidFill>
                  <a:srgbClr val="1E293B"/>
                </a:solidFill>
                <a:latin typeface="Calibri"/>
              </a:rPr>
              <a:t>•  Combined volume: tens of thousands of interactions per week</a:t>
            </a:r>
          </a:p>
          <a:p>
            <a:pPr>
              <a:spcAft>
                <a:spcPts val="800"/>
              </a:spcAft>
            </a:pPr>
            <a:r>
              <a:rPr sz="1600" b="0">
                <a:solidFill>
                  <a:srgbClr val="1E293B"/>
                </a:solidFill>
                <a:latin typeface="Calibri"/>
              </a:rPr>
              <a:t>•  Data sources are a mix of well-governed and loosely governed content</a:t>
            </a:r>
          </a:p>
          <a:p>
            <a:pPr>
              <a:spcAft>
                <a:spcPts val="800"/>
              </a:spcAft>
            </a:pPr>
            <a:r>
              <a:rPr sz="1600" b="0">
                <a:solidFill>
                  <a:srgbClr val="1E293B"/>
                </a:solidFill>
                <a:latin typeface="Calibri"/>
              </a:rPr>
              <a:t>•  The foundation model is consumed via API</a:t>
            </a:r>
          </a:p>
          <a:p>
            <a:pPr>
              <a:spcAft>
                <a:spcPts val="800"/>
              </a:spcAft>
            </a:pPr>
            <a:r>
              <a:rPr sz="1600" b="0">
                <a:solidFill>
                  <a:srgbClr val="1E293B"/>
                </a:solidFill>
                <a:latin typeface="Calibri"/>
              </a:rPr>
              <a:t>•  Proprietary production data is not required for this round</a:t>
            </a:r>
          </a:p>
        </p:txBody>
      </p:sp>
      <p:sp>
        <p:nvSpPr>
          <p:cNvPr id="8" name="Rounded Rectangle 7"/>
          <p:cNvSpPr/>
          <p:nvPr/>
        </p:nvSpPr>
        <p:spPr>
          <a:xfrm>
            <a:off x="7315200" y="1234440"/>
            <a:ext cx="4389120" cy="3108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371600"/>
            <a:ext cx="4023360" cy="365760"/>
          </a:xfrm>
          <a:prstGeom prst="rect">
            <a:avLst/>
          </a:prstGeom>
          <a:noFill/>
        </p:spPr>
        <p:txBody>
          <a:bodyPr wrap="square">
            <a:spAutoFit/>
          </a:bodyPr>
          <a:lstStyle/>
          <a:p>
            <a:pPr algn="l"/>
            <a:r>
              <a:rPr sz="1400" b="1">
                <a:solidFill>
                  <a:srgbClr val="1E2F6E"/>
                </a:solidFill>
                <a:latin typeface="Calibri"/>
              </a:rPr>
              <a:t>Illustrative weekly volume</a:t>
            </a:r>
          </a:p>
        </p:txBody>
      </p:sp>
      <p:sp>
        <p:nvSpPr>
          <p:cNvPr id="10" name="TextBox 9"/>
          <p:cNvSpPr txBox="1"/>
          <p:nvPr/>
        </p:nvSpPr>
        <p:spPr>
          <a:xfrm>
            <a:off x="7589520" y="1874519"/>
            <a:ext cx="2377440" cy="365760"/>
          </a:xfrm>
          <a:prstGeom prst="rect">
            <a:avLst/>
          </a:prstGeom>
          <a:noFill/>
        </p:spPr>
        <p:txBody>
          <a:bodyPr wrap="square">
            <a:spAutoFit/>
          </a:bodyPr>
          <a:lstStyle/>
          <a:p>
            <a:pPr algn="l"/>
            <a:r>
              <a:rPr sz="1400" b="0">
                <a:solidFill>
                  <a:srgbClr val="1E293B"/>
                </a:solidFill>
                <a:latin typeface="Calibri"/>
              </a:rPr>
              <a:t>Customer Support</a:t>
            </a:r>
          </a:p>
        </p:txBody>
      </p:sp>
      <p:sp>
        <p:nvSpPr>
          <p:cNvPr id="11" name="TextBox 10"/>
          <p:cNvSpPr txBox="1"/>
          <p:nvPr/>
        </p:nvSpPr>
        <p:spPr>
          <a:xfrm>
            <a:off x="9875520" y="1874519"/>
            <a:ext cx="1554480" cy="365760"/>
          </a:xfrm>
          <a:prstGeom prst="rect">
            <a:avLst/>
          </a:prstGeom>
          <a:noFill/>
        </p:spPr>
        <p:txBody>
          <a:bodyPr wrap="square">
            <a:spAutoFit/>
          </a:bodyPr>
          <a:lstStyle/>
          <a:p>
            <a:pPr algn="l"/>
            <a:r>
              <a:rPr sz="1600" b="1">
                <a:solidFill>
                  <a:srgbClr val="3B5BDB"/>
                </a:solidFill>
                <a:latin typeface="Calibri"/>
              </a:rPr>
              <a:t>18,000</a:t>
            </a:r>
          </a:p>
        </p:txBody>
      </p:sp>
      <p:sp>
        <p:nvSpPr>
          <p:cNvPr id="12" name="TextBox 11"/>
          <p:cNvSpPr txBox="1"/>
          <p:nvPr/>
        </p:nvSpPr>
        <p:spPr>
          <a:xfrm>
            <a:off x="7589520" y="2423160"/>
            <a:ext cx="2377440" cy="365760"/>
          </a:xfrm>
          <a:prstGeom prst="rect">
            <a:avLst/>
          </a:prstGeom>
          <a:noFill/>
        </p:spPr>
        <p:txBody>
          <a:bodyPr wrap="square">
            <a:spAutoFit/>
          </a:bodyPr>
          <a:lstStyle/>
          <a:p>
            <a:pPr algn="l"/>
            <a:r>
              <a:rPr sz="1400" b="0">
                <a:solidFill>
                  <a:srgbClr val="1E293B"/>
                </a:solidFill>
                <a:latin typeface="Calibri"/>
              </a:rPr>
              <a:t>Employee Copilot</a:t>
            </a:r>
          </a:p>
        </p:txBody>
      </p:sp>
      <p:sp>
        <p:nvSpPr>
          <p:cNvPr id="13" name="TextBox 12"/>
          <p:cNvSpPr txBox="1"/>
          <p:nvPr/>
        </p:nvSpPr>
        <p:spPr>
          <a:xfrm>
            <a:off x="9875520" y="2423160"/>
            <a:ext cx="1554480" cy="365760"/>
          </a:xfrm>
          <a:prstGeom prst="rect">
            <a:avLst/>
          </a:prstGeom>
          <a:noFill/>
        </p:spPr>
        <p:txBody>
          <a:bodyPr wrap="square">
            <a:spAutoFit/>
          </a:bodyPr>
          <a:lstStyle/>
          <a:p>
            <a:pPr algn="l"/>
            <a:r>
              <a:rPr sz="1600" b="1">
                <a:solidFill>
                  <a:srgbClr val="3B5BDB"/>
                </a:solidFill>
                <a:latin typeface="Calibri"/>
              </a:rPr>
              <a:t>10,000</a:t>
            </a:r>
          </a:p>
        </p:txBody>
      </p:sp>
      <p:sp>
        <p:nvSpPr>
          <p:cNvPr id="14" name="TextBox 13"/>
          <p:cNvSpPr txBox="1"/>
          <p:nvPr/>
        </p:nvSpPr>
        <p:spPr>
          <a:xfrm>
            <a:off x="7589520" y="2971800"/>
            <a:ext cx="2377440" cy="365760"/>
          </a:xfrm>
          <a:prstGeom prst="rect">
            <a:avLst/>
          </a:prstGeom>
          <a:noFill/>
        </p:spPr>
        <p:txBody>
          <a:bodyPr wrap="square">
            <a:spAutoFit/>
          </a:bodyPr>
          <a:lstStyle/>
          <a:p>
            <a:pPr algn="l"/>
            <a:r>
              <a:rPr sz="1400" b="0">
                <a:solidFill>
                  <a:srgbClr val="1E293B"/>
                </a:solidFill>
                <a:latin typeface="Calibri"/>
              </a:rPr>
              <a:t>Decision Support</a:t>
            </a:r>
          </a:p>
        </p:txBody>
      </p:sp>
      <p:sp>
        <p:nvSpPr>
          <p:cNvPr id="15" name="TextBox 14"/>
          <p:cNvSpPr txBox="1"/>
          <p:nvPr/>
        </p:nvSpPr>
        <p:spPr>
          <a:xfrm>
            <a:off x="9875520" y="2971800"/>
            <a:ext cx="1554480" cy="365760"/>
          </a:xfrm>
          <a:prstGeom prst="rect">
            <a:avLst/>
          </a:prstGeom>
          <a:noFill/>
        </p:spPr>
        <p:txBody>
          <a:bodyPr wrap="square">
            <a:spAutoFit/>
          </a:bodyPr>
          <a:lstStyle/>
          <a:p>
            <a:pPr algn="l"/>
            <a:r>
              <a:rPr sz="1600" b="1">
                <a:solidFill>
                  <a:srgbClr val="3B5BDB"/>
                </a:solidFill>
                <a:latin typeface="Calibri"/>
              </a:rPr>
              <a:t>4,000</a:t>
            </a:r>
          </a:p>
        </p:txBody>
      </p:sp>
      <p:sp>
        <p:nvSpPr>
          <p:cNvPr id="16" name="TextBox 15"/>
          <p:cNvSpPr txBox="1"/>
          <p:nvPr/>
        </p:nvSpPr>
        <p:spPr>
          <a:xfrm>
            <a:off x="7589520" y="3520439"/>
            <a:ext cx="2377440" cy="365760"/>
          </a:xfrm>
          <a:prstGeom prst="rect">
            <a:avLst/>
          </a:prstGeom>
          <a:noFill/>
        </p:spPr>
        <p:txBody>
          <a:bodyPr wrap="square">
            <a:spAutoFit/>
          </a:bodyPr>
          <a:lstStyle/>
          <a:p>
            <a:pPr algn="l"/>
            <a:r>
              <a:rPr sz="1400" b="1">
                <a:solidFill>
                  <a:srgbClr val="1E293B"/>
                </a:solidFill>
                <a:latin typeface="Calibri"/>
              </a:rPr>
              <a:t>Total</a:t>
            </a:r>
          </a:p>
        </p:txBody>
      </p:sp>
      <p:sp>
        <p:nvSpPr>
          <p:cNvPr id="17" name="TextBox 16"/>
          <p:cNvSpPr txBox="1"/>
          <p:nvPr/>
        </p:nvSpPr>
        <p:spPr>
          <a:xfrm>
            <a:off x="9875520" y="3520439"/>
            <a:ext cx="1554480" cy="365760"/>
          </a:xfrm>
          <a:prstGeom prst="rect">
            <a:avLst/>
          </a:prstGeom>
          <a:noFill/>
        </p:spPr>
        <p:txBody>
          <a:bodyPr wrap="square">
            <a:spAutoFit/>
          </a:bodyPr>
          <a:lstStyle/>
          <a:p>
            <a:pPr algn="l"/>
            <a:r>
              <a:rPr sz="1600" b="1">
                <a:solidFill>
                  <a:srgbClr val="1E2F6E"/>
                </a:solidFill>
                <a:latin typeface="Calibri"/>
              </a:rPr>
              <a:t>32,000</a:t>
            </a:r>
          </a:p>
        </p:txBody>
      </p:sp>
      <p:sp>
        <p:nvSpPr>
          <p:cNvPr id="18" name="TextBox 17"/>
          <p:cNvSpPr txBox="1"/>
          <p:nvPr/>
        </p:nvSpPr>
        <p:spPr>
          <a:xfrm>
            <a:off x="457200" y="4572000"/>
            <a:ext cx="11247120" cy="1554480"/>
          </a:xfrm>
          <a:prstGeom prst="rect">
            <a:avLst/>
          </a:prstGeom>
          <a:noFill/>
        </p:spPr>
        <p:txBody>
          <a:bodyPr wrap="square">
            <a:spAutoFit/>
          </a:bodyPr>
          <a:lstStyle/>
          <a:p>
            <a:pPr algn="l"/>
            <a:r>
              <a:rPr sz="1500" b="0">
                <a:solidFill>
                  <a:srgbClr val="475569"/>
                </a:solidFill>
                <a:latin typeface="Calibri"/>
              </a:rPr>
              <a:t>All volumes, interception rates and efficiency figures later in this deck are illustrative planning assumptions. They are not audited customer results and are not claimed as production accuracy.</a:t>
            </a:r>
          </a:p>
        </p:txBody>
      </p:sp>
      <p:sp>
        <p:nvSpPr>
          <p:cNvPr id="19" name="Rectangle 18"/>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1" name="TextBox 20"/>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3. Solution design</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Not “an AI that checks another AI”</a:t>
            </a:r>
          </a:p>
        </p:txBody>
      </p:sp>
      <p:sp>
        <p:nvSpPr>
          <p:cNvPr id="7" name="Rounded Rectangle 6"/>
          <p:cNvSpPr/>
          <p:nvPr/>
        </p:nvSpPr>
        <p:spPr>
          <a:xfrm>
            <a:off x="411480" y="1188720"/>
            <a:ext cx="11338560" cy="1371600"/>
          </a:xfrm>
          <a:prstGeom prst="roundRect">
            <a:avLst>
              <a:gd name="adj" fmla="val 8000"/>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371600"/>
            <a:ext cx="10972800" cy="1051560"/>
          </a:xfrm>
          <a:prstGeom prst="rect">
            <a:avLst/>
          </a:prstGeom>
          <a:noFill/>
        </p:spPr>
        <p:txBody>
          <a:bodyPr wrap="square">
            <a:spAutoFit/>
          </a:bodyPr>
          <a:lstStyle/>
          <a:p>
            <a:pPr algn="l"/>
            <a:r>
              <a:rPr sz="1600" b="0">
                <a:solidFill>
                  <a:srgbClr val="1E2F6E"/>
                </a:solidFill>
                <a:latin typeface="Calibri"/>
              </a:rPr>
              <a:t>ControlPlane.ai is a policy-aware enterprise control layer that evaluates AI interactions against contextual risk policies and determines whether outputs should be allowed, modified, escalated or blocked. Applications call ControlPlane instead of sending raw model output to the user.</a:t>
            </a:r>
          </a:p>
        </p:txBody>
      </p:sp>
      <p:sp>
        <p:nvSpPr>
          <p:cNvPr id="9" name="Rounded Rectangle 8"/>
          <p:cNvSpPr/>
          <p:nvPr/>
        </p:nvSpPr>
        <p:spPr>
          <a:xfrm>
            <a:off x="365760" y="278892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78892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898648"/>
            <a:ext cx="2496312" cy="292608"/>
          </a:xfrm>
          <a:prstGeom prst="rect">
            <a:avLst/>
          </a:prstGeom>
          <a:noFill/>
        </p:spPr>
        <p:txBody>
          <a:bodyPr wrap="square">
            <a:spAutoFit/>
          </a:bodyPr>
          <a:lstStyle/>
          <a:p>
            <a:pPr algn="l"/>
            <a:r>
              <a:rPr sz="1300" b="1">
                <a:solidFill>
                  <a:srgbClr val="1E2F6E"/>
                </a:solidFill>
                <a:latin typeface="Calibri"/>
              </a:rPr>
              <a:t>Context first</a:t>
            </a:r>
          </a:p>
        </p:txBody>
      </p:sp>
      <p:sp>
        <p:nvSpPr>
          <p:cNvPr id="12" name="TextBox 11"/>
          <p:cNvSpPr txBox="1"/>
          <p:nvPr/>
        </p:nvSpPr>
        <p:spPr>
          <a:xfrm>
            <a:off x="566928" y="3191256"/>
            <a:ext cx="2459736" cy="1170432"/>
          </a:xfrm>
          <a:prstGeom prst="rect">
            <a:avLst/>
          </a:prstGeom>
          <a:noFill/>
        </p:spPr>
        <p:txBody>
          <a:bodyPr wrap="square">
            <a:spAutoFit/>
          </a:bodyPr>
          <a:lstStyle/>
          <a:p>
            <a:r>
              <a:rPr sz="1200" b="0">
                <a:solidFill>
                  <a:srgbClr val="475569"/>
                </a:solidFill>
                <a:latin typeface="Calibri"/>
              </a:rPr>
              <a:t>Same output, different decision by application.</a:t>
            </a:r>
          </a:p>
        </p:txBody>
      </p:sp>
      <p:sp>
        <p:nvSpPr>
          <p:cNvPr id="13" name="Rounded Rectangle 12"/>
          <p:cNvSpPr/>
          <p:nvPr/>
        </p:nvSpPr>
        <p:spPr>
          <a:xfrm>
            <a:off x="3291840" y="278892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278892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898648"/>
            <a:ext cx="2496312" cy="292608"/>
          </a:xfrm>
          <a:prstGeom prst="rect">
            <a:avLst/>
          </a:prstGeom>
          <a:noFill/>
        </p:spPr>
        <p:txBody>
          <a:bodyPr wrap="square">
            <a:spAutoFit/>
          </a:bodyPr>
          <a:lstStyle/>
          <a:p>
            <a:pPr algn="l"/>
            <a:r>
              <a:rPr sz="1300" b="1">
                <a:solidFill>
                  <a:srgbClr val="1E2F6E"/>
                </a:solidFill>
                <a:latin typeface="Calibri"/>
              </a:rPr>
              <a:t>Hybrid detection</a:t>
            </a:r>
          </a:p>
        </p:txBody>
      </p:sp>
      <p:sp>
        <p:nvSpPr>
          <p:cNvPr id="16" name="TextBox 15"/>
          <p:cNvSpPr txBox="1"/>
          <p:nvPr/>
        </p:nvSpPr>
        <p:spPr>
          <a:xfrm>
            <a:off x="3493008" y="3191256"/>
            <a:ext cx="2459736" cy="1170432"/>
          </a:xfrm>
          <a:prstGeom prst="rect">
            <a:avLst/>
          </a:prstGeom>
          <a:noFill/>
        </p:spPr>
        <p:txBody>
          <a:bodyPr wrap="square">
            <a:spAutoFit/>
          </a:bodyPr>
          <a:lstStyle/>
          <a:p>
            <a:r>
              <a:rPr sz="1200" b="0">
                <a:solidFill>
                  <a:srgbClr val="475569"/>
                </a:solidFill>
                <a:latin typeface="Calibri"/>
              </a:rPr>
              <a:t>Rules, retrieval and optional LLM judge, each where they fit.</a:t>
            </a:r>
          </a:p>
        </p:txBody>
      </p:sp>
      <p:sp>
        <p:nvSpPr>
          <p:cNvPr id="17" name="Rounded Rectangle 16"/>
          <p:cNvSpPr/>
          <p:nvPr/>
        </p:nvSpPr>
        <p:spPr>
          <a:xfrm>
            <a:off x="6217920" y="278892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78892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2898648"/>
            <a:ext cx="2496312" cy="292608"/>
          </a:xfrm>
          <a:prstGeom prst="rect">
            <a:avLst/>
          </a:prstGeom>
          <a:noFill/>
        </p:spPr>
        <p:txBody>
          <a:bodyPr wrap="square">
            <a:spAutoFit/>
          </a:bodyPr>
          <a:lstStyle/>
          <a:p>
            <a:pPr algn="l"/>
            <a:r>
              <a:rPr sz="1300" b="1">
                <a:solidFill>
                  <a:srgbClr val="1E2F6E"/>
                </a:solidFill>
                <a:latin typeface="Calibri"/>
              </a:rPr>
              <a:t>Explain every decision</a:t>
            </a:r>
          </a:p>
        </p:txBody>
      </p:sp>
      <p:sp>
        <p:nvSpPr>
          <p:cNvPr id="20" name="TextBox 19"/>
          <p:cNvSpPr txBox="1"/>
          <p:nvPr/>
        </p:nvSpPr>
        <p:spPr>
          <a:xfrm>
            <a:off x="6419088" y="3191256"/>
            <a:ext cx="2459736" cy="1170432"/>
          </a:xfrm>
          <a:prstGeom prst="rect">
            <a:avLst/>
          </a:prstGeom>
          <a:noFill/>
        </p:spPr>
        <p:txBody>
          <a:bodyPr wrap="square">
            <a:spAutoFit/>
          </a:bodyPr>
          <a:lstStyle/>
          <a:p>
            <a:r>
              <a:rPr sz="1200" b="0">
                <a:solidFill>
                  <a:srgbClr val="475569"/>
                </a:solidFill>
                <a:latin typeface="Calibri"/>
              </a:rPr>
              <a:t>A score without a reason is not governable.</a:t>
            </a:r>
          </a:p>
        </p:txBody>
      </p:sp>
      <p:sp>
        <p:nvSpPr>
          <p:cNvPr id="21" name="Rounded Rectangle 20"/>
          <p:cNvSpPr/>
          <p:nvPr/>
        </p:nvSpPr>
        <p:spPr>
          <a:xfrm>
            <a:off x="9144000" y="278892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278892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5168" y="2898648"/>
            <a:ext cx="2496312" cy="292608"/>
          </a:xfrm>
          <a:prstGeom prst="rect">
            <a:avLst/>
          </a:prstGeom>
          <a:noFill/>
        </p:spPr>
        <p:txBody>
          <a:bodyPr wrap="square">
            <a:spAutoFit/>
          </a:bodyPr>
          <a:lstStyle/>
          <a:p>
            <a:pPr algn="l"/>
            <a:r>
              <a:rPr sz="1300" b="1">
                <a:solidFill>
                  <a:srgbClr val="1E2F6E"/>
                </a:solidFill>
                <a:latin typeface="Calibri"/>
              </a:rPr>
              <a:t>Abstain when uncertain</a:t>
            </a:r>
          </a:p>
        </p:txBody>
      </p:sp>
      <p:sp>
        <p:nvSpPr>
          <p:cNvPr id="24" name="TextBox 23"/>
          <p:cNvSpPr txBox="1"/>
          <p:nvPr/>
        </p:nvSpPr>
        <p:spPr>
          <a:xfrm>
            <a:off x="9345168" y="3191256"/>
            <a:ext cx="2459736" cy="1170432"/>
          </a:xfrm>
          <a:prstGeom prst="rect">
            <a:avLst/>
          </a:prstGeom>
          <a:noFill/>
        </p:spPr>
        <p:txBody>
          <a:bodyPr wrap="square">
            <a:spAutoFit/>
          </a:bodyPr>
          <a:lstStyle/>
          <a:p>
            <a:r>
              <a:rPr sz="1200" b="0">
                <a:solidFill>
                  <a:srgbClr val="475569"/>
                </a:solidFill>
                <a:latin typeface="Calibri"/>
              </a:rPr>
              <a:t>Low evidence → human review, not false confidence.</a:t>
            </a:r>
          </a:p>
        </p:txBody>
      </p:sp>
      <p:sp>
        <p:nvSpPr>
          <p:cNvPr id="25" name="Rounded Rectangle 24"/>
          <p:cNvSpPr/>
          <p:nvPr/>
        </p:nvSpPr>
        <p:spPr>
          <a:xfrm>
            <a:off x="365760" y="457200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457200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681728"/>
            <a:ext cx="2496312" cy="292608"/>
          </a:xfrm>
          <a:prstGeom prst="rect">
            <a:avLst/>
          </a:prstGeom>
          <a:noFill/>
        </p:spPr>
        <p:txBody>
          <a:bodyPr wrap="square">
            <a:spAutoFit/>
          </a:bodyPr>
          <a:lstStyle/>
          <a:p>
            <a:pPr algn="l"/>
            <a:r>
              <a:rPr sz="1300" b="1">
                <a:solidFill>
                  <a:srgbClr val="1E2F6E"/>
                </a:solidFill>
                <a:latin typeface="Calibri"/>
              </a:rPr>
              <a:t>Human in the loop</a:t>
            </a:r>
          </a:p>
        </p:txBody>
      </p:sp>
      <p:sp>
        <p:nvSpPr>
          <p:cNvPr id="28" name="TextBox 27"/>
          <p:cNvSpPr txBox="1"/>
          <p:nvPr/>
        </p:nvSpPr>
        <p:spPr>
          <a:xfrm>
            <a:off x="566928" y="4974336"/>
            <a:ext cx="2459736" cy="1170432"/>
          </a:xfrm>
          <a:prstGeom prst="rect">
            <a:avLst/>
          </a:prstGeom>
          <a:noFill/>
        </p:spPr>
        <p:txBody>
          <a:bodyPr wrap="square">
            <a:spAutoFit/>
          </a:bodyPr>
          <a:lstStyle/>
          <a:p>
            <a:r>
              <a:rPr sz="1200" b="0">
                <a:solidFill>
                  <a:srgbClr val="475569"/>
                </a:solidFill>
                <a:latin typeface="Calibri"/>
              </a:rPr>
              <a:t>High-impact decisions remain reviewable.</a:t>
            </a:r>
          </a:p>
        </p:txBody>
      </p:sp>
      <p:sp>
        <p:nvSpPr>
          <p:cNvPr id="29" name="Rounded Rectangle 28"/>
          <p:cNvSpPr/>
          <p:nvPr/>
        </p:nvSpPr>
        <p:spPr>
          <a:xfrm>
            <a:off x="3291840" y="457200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91840" y="457200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93008" y="4681728"/>
            <a:ext cx="2496312" cy="292608"/>
          </a:xfrm>
          <a:prstGeom prst="rect">
            <a:avLst/>
          </a:prstGeom>
          <a:noFill/>
        </p:spPr>
        <p:txBody>
          <a:bodyPr wrap="square">
            <a:spAutoFit/>
          </a:bodyPr>
          <a:lstStyle/>
          <a:p>
            <a:pPr algn="l"/>
            <a:r>
              <a:rPr sz="1300" b="1">
                <a:solidFill>
                  <a:srgbClr val="1E2F6E"/>
                </a:solidFill>
                <a:latin typeface="Calibri"/>
              </a:rPr>
              <a:t>Auditable by default</a:t>
            </a:r>
          </a:p>
        </p:txBody>
      </p:sp>
      <p:sp>
        <p:nvSpPr>
          <p:cNvPr id="32" name="TextBox 31"/>
          <p:cNvSpPr txBox="1"/>
          <p:nvPr/>
        </p:nvSpPr>
        <p:spPr>
          <a:xfrm>
            <a:off x="3493008" y="4974336"/>
            <a:ext cx="2459736" cy="1170432"/>
          </a:xfrm>
          <a:prstGeom prst="rect">
            <a:avLst/>
          </a:prstGeom>
          <a:noFill/>
        </p:spPr>
        <p:txBody>
          <a:bodyPr wrap="square">
            <a:spAutoFit/>
          </a:bodyPr>
          <a:lstStyle/>
          <a:p>
            <a:r>
              <a:rPr sz="1200" b="0">
                <a:solidFill>
                  <a:srgbClr val="475569"/>
                </a:solidFill>
                <a:latin typeface="Calibri"/>
              </a:rPr>
              <a:t>Every decision leaves a trail.</a:t>
            </a:r>
          </a:p>
        </p:txBody>
      </p:sp>
      <p:sp>
        <p:nvSpPr>
          <p:cNvPr id="33" name="Rounded Rectangle 32"/>
          <p:cNvSpPr/>
          <p:nvPr/>
        </p:nvSpPr>
        <p:spPr>
          <a:xfrm>
            <a:off x="6217920" y="457200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17920" y="457200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19088" y="4681728"/>
            <a:ext cx="2496312" cy="292608"/>
          </a:xfrm>
          <a:prstGeom prst="rect">
            <a:avLst/>
          </a:prstGeom>
          <a:noFill/>
        </p:spPr>
        <p:txBody>
          <a:bodyPr wrap="square">
            <a:spAutoFit/>
          </a:bodyPr>
          <a:lstStyle/>
          <a:p>
            <a:pPr algn="l"/>
            <a:r>
              <a:rPr sz="1300" b="1">
                <a:solidFill>
                  <a:srgbClr val="1E2F6E"/>
                </a:solidFill>
                <a:latin typeface="Calibri"/>
              </a:rPr>
              <a:t>Configurable policy</a:t>
            </a:r>
          </a:p>
        </p:txBody>
      </p:sp>
      <p:sp>
        <p:nvSpPr>
          <p:cNvPr id="36" name="TextBox 35"/>
          <p:cNvSpPr txBox="1"/>
          <p:nvPr/>
        </p:nvSpPr>
        <p:spPr>
          <a:xfrm>
            <a:off x="6419088" y="4974336"/>
            <a:ext cx="2459736" cy="1170432"/>
          </a:xfrm>
          <a:prstGeom prst="rect">
            <a:avLst/>
          </a:prstGeom>
          <a:noFill/>
        </p:spPr>
        <p:txBody>
          <a:bodyPr wrap="square">
            <a:spAutoFit/>
          </a:bodyPr>
          <a:lstStyle/>
          <a:p>
            <a:r>
              <a:rPr sz="1200" b="0">
                <a:solidFill>
                  <a:srgbClr val="475569"/>
                </a:solidFill>
                <a:latin typeface="Calibri"/>
              </a:rPr>
              <a:t>Varies by app, region and risk appetite.</a:t>
            </a:r>
          </a:p>
        </p:txBody>
      </p:sp>
      <p:sp>
        <p:nvSpPr>
          <p:cNvPr id="37" name="Rounded Rectangle 36"/>
          <p:cNvSpPr/>
          <p:nvPr/>
        </p:nvSpPr>
        <p:spPr>
          <a:xfrm>
            <a:off x="9144000" y="4572000"/>
            <a:ext cx="2788920" cy="164592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4572000"/>
            <a:ext cx="73152" cy="164592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45168" y="4681728"/>
            <a:ext cx="2496312" cy="292608"/>
          </a:xfrm>
          <a:prstGeom prst="rect">
            <a:avLst/>
          </a:prstGeom>
          <a:noFill/>
        </p:spPr>
        <p:txBody>
          <a:bodyPr wrap="square">
            <a:spAutoFit/>
          </a:bodyPr>
          <a:lstStyle/>
          <a:p>
            <a:pPr algn="l"/>
            <a:r>
              <a:rPr sz="1300" b="1">
                <a:solidFill>
                  <a:srgbClr val="1E2F6E"/>
                </a:solidFill>
                <a:latin typeface="Calibri"/>
              </a:rPr>
              <a:t>Fail safe</a:t>
            </a:r>
          </a:p>
        </p:txBody>
      </p:sp>
      <p:sp>
        <p:nvSpPr>
          <p:cNvPr id="40" name="TextBox 39"/>
          <p:cNvSpPr txBox="1"/>
          <p:nvPr/>
        </p:nvSpPr>
        <p:spPr>
          <a:xfrm>
            <a:off x="9345168" y="4974336"/>
            <a:ext cx="2459736" cy="1170432"/>
          </a:xfrm>
          <a:prstGeom prst="rect">
            <a:avLst/>
          </a:prstGeom>
          <a:noFill/>
        </p:spPr>
        <p:txBody>
          <a:bodyPr wrap="square">
            <a:spAutoFit/>
          </a:bodyPr>
          <a:lstStyle/>
          <a:p>
            <a:r>
              <a:rPr sz="1200" b="0">
                <a:solidFill>
                  <a:srgbClr val="475569"/>
                </a:solidFill>
                <a:latin typeface="Calibri"/>
              </a:rPr>
              <a:t>Detector failure escalates in strict workflows; it does not silently allow.</a:t>
            </a:r>
          </a:p>
        </p:txBody>
      </p:sp>
      <p:sp>
        <p:nvSpPr>
          <p:cNvPr id="41" name="Rectangle 40"/>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43" name="TextBox 42"/>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3.1 Runtime architecture</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Intercept → detect in parallel → score → decide → audit</a:t>
            </a:r>
          </a:p>
        </p:txBody>
      </p:sp>
      <p:sp>
        <p:nvSpPr>
          <p:cNvPr id="7" name="Rounded Rectangle 6"/>
          <p:cNvSpPr/>
          <p:nvPr/>
        </p:nvSpPr>
        <p:spPr>
          <a:xfrm>
            <a:off x="411480" y="123444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6304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27048"/>
            <a:ext cx="457200" cy="365760"/>
          </a:xfrm>
          <a:prstGeom prst="rect">
            <a:avLst/>
          </a:prstGeom>
          <a:noFill/>
        </p:spPr>
        <p:txBody>
          <a:bodyPr wrap="square">
            <a:spAutoFit/>
          </a:bodyPr>
          <a:lstStyle/>
          <a:p>
            <a:pPr algn="ctr"/>
            <a:r>
              <a:rPr sz="1600" b="1">
                <a:solidFill>
                  <a:srgbClr val="FFFFFF"/>
                </a:solidFill>
                <a:latin typeface="Calibri"/>
              </a:rPr>
              <a:t>1</a:t>
            </a:r>
          </a:p>
        </p:txBody>
      </p:sp>
      <p:sp>
        <p:nvSpPr>
          <p:cNvPr id="10" name="TextBox 9"/>
          <p:cNvSpPr txBox="1"/>
          <p:nvPr/>
        </p:nvSpPr>
        <p:spPr>
          <a:xfrm>
            <a:off x="1188720" y="1508760"/>
            <a:ext cx="2743200" cy="365760"/>
          </a:xfrm>
          <a:prstGeom prst="rect">
            <a:avLst/>
          </a:prstGeom>
          <a:noFill/>
        </p:spPr>
        <p:txBody>
          <a:bodyPr wrap="square">
            <a:spAutoFit/>
          </a:bodyPr>
          <a:lstStyle/>
          <a:p>
            <a:pPr algn="l"/>
            <a:r>
              <a:rPr sz="1800" b="1">
                <a:solidFill>
                  <a:srgbClr val="1E2F6E"/>
                </a:solidFill>
                <a:latin typeface="Calibri"/>
              </a:rPr>
              <a:t>Pre-gate</a:t>
            </a:r>
          </a:p>
        </p:txBody>
      </p:sp>
      <p:sp>
        <p:nvSpPr>
          <p:cNvPr id="11" name="TextBox 10"/>
          <p:cNvSpPr txBox="1"/>
          <p:nvPr/>
        </p:nvSpPr>
        <p:spPr>
          <a:xfrm>
            <a:off x="640080" y="2148840"/>
            <a:ext cx="3246120" cy="914400"/>
          </a:xfrm>
          <a:prstGeom prst="rect">
            <a:avLst/>
          </a:prstGeom>
          <a:noFill/>
        </p:spPr>
        <p:txBody>
          <a:bodyPr wrap="square">
            <a:spAutoFit/>
          </a:bodyPr>
          <a:lstStyle/>
          <a:p>
            <a:pPr algn="l"/>
            <a:r>
              <a:rPr sz="1400" b="0">
                <a:solidFill>
                  <a:srgbClr val="475569"/>
                </a:solidFill>
                <a:latin typeface="Calibri"/>
              </a:rPr>
              <a:t>Sensitive requests, injection, restricted topics</a:t>
            </a:r>
          </a:p>
        </p:txBody>
      </p:sp>
      <p:sp>
        <p:nvSpPr>
          <p:cNvPr id="12" name="Rounded Rectangle 11"/>
          <p:cNvSpPr/>
          <p:nvPr/>
        </p:nvSpPr>
        <p:spPr>
          <a:xfrm>
            <a:off x="4297680" y="123444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80560" y="146304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1527048"/>
            <a:ext cx="457200" cy="365760"/>
          </a:xfrm>
          <a:prstGeom prst="rect">
            <a:avLst/>
          </a:prstGeom>
          <a:noFill/>
        </p:spPr>
        <p:txBody>
          <a:bodyPr wrap="square">
            <a:spAutoFit/>
          </a:bodyPr>
          <a:lstStyle/>
          <a:p>
            <a:pPr algn="ctr"/>
            <a:r>
              <a:rPr sz="1600" b="1">
                <a:solidFill>
                  <a:srgbClr val="FFFFFF"/>
                </a:solidFill>
                <a:latin typeface="Calibri"/>
              </a:rPr>
              <a:t>2</a:t>
            </a:r>
          </a:p>
        </p:txBody>
      </p:sp>
      <p:sp>
        <p:nvSpPr>
          <p:cNvPr id="15" name="TextBox 14"/>
          <p:cNvSpPr txBox="1"/>
          <p:nvPr/>
        </p:nvSpPr>
        <p:spPr>
          <a:xfrm>
            <a:off x="5074920" y="1508760"/>
            <a:ext cx="2743200" cy="365760"/>
          </a:xfrm>
          <a:prstGeom prst="rect">
            <a:avLst/>
          </a:prstGeom>
          <a:noFill/>
        </p:spPr>
        <p:txBody>
          <a:bodyPr wrap="square">
            <a:spAutoFit/>
          </a:bodyPr>
          <a:lstStyle/>
          <a:p>
            <a:pPr algn="l"/>
            <a:r>
              <a:rPr sz="1800" b="1">
                <a:solidFill>
                  <a:srgbClr val="1E2F6E"/>
                </a:solidFill>
                <a:latin typeface="Calibri"/>
              </a:rPr>
              <a:t>Generate</a:t>
            </a:r>
          </a:p>
        </p:txBody>
      </p:sp>
      <p:sp>
        <p:nvSpPr>
          <p:cNvPr id="16" name="TextBox 15"/>
          <p:cNvSpPr txBox="1"/>
          <p:nvPr/>
        </p:nvSpPr>
        <p:spPr>
          <a:xfrm>
            <a:off x="4526280" y="2148840"/>
            <a:ext cx="3246120" cy="914400"/>
          </a:xfrm>
          <a:prstGeom prst="rect">
            <a:avLst/>
          </a:prstGeom>
          <a:noFill/>
        </p:spPr>
        <p:txBody>
          <a:bodyPr wrap="square">
            <a:spAutoFit/>
          </a:bodyPr>
          <a:lstStyle/>
          <a:p>
            <a:pPr algn="l"/>
            <a:r>
              <a:rPr sz="1400" b="0">
                <a:solidFill>
                  <a:srgbClr val="475569"/>
                </a:solidFill>
                <a:latin typeface="Calibri"/>
              </a:rPr>
              <a:t>LLM or deterministic mock if input may proceed</a:t>
            </a:r>
          </a:p>
        </p:txBody>
      </p:sp>
      <p:sp>
        <p:nvSpPr>
          <p:cNvPr id="17" name="Rounded Rectangle 16"/>
          <p:cNvSpPr/>
          <p:nvPr/>
        </p:nvSpPr>
        <p:spPr>
          <a:xfrm>
            <a:off x="8183879" y="123444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66759" y="146304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59" y="1527048"/>
            <a:ext cx="457200" cy="365760"/>
          </a:xfrm>
          <a:prstGeom prst="rect">
            <a:avLst/>
          </a:prstGeom>
          <a:noFill/>
        </p:spPr>
        <p:txBody>
          <a:bodyPr wrap="square">
            <a:spAutoFit/>
          </a:bodyPr>
          <a:lstStyle/>
          <a:p>
            <a:pPr algn="ctr"/>
            <a:r>
              <a:rPr sz="1600" b="1">
                <a:solidFill>
                  <a:srgbClr val="FFFFFF"/>
                </a:solidFill>
                <a:latin typeface="Calibri"/>
              </a:rPr>
              <a:t>3</a:t>
            </a:r>
          </a:p>
        </p:txBody>
      </p:sp>
      <p:sp>
        <p:nvSpPr>
          <p:cNvPr id="20" name="TextBox 19"/>
          <p:cNvSpPr txBox="1"/>
          <p:nvPr/>
        </p:nvSpPr>
        <p:spPr>
          <a:xfrm>
            <a:off x="8961119" y="1508760"/>
            <a:ext cx="2743200" cy="365760"/>
          </a:xfrm>
          <a:prstGeom prst="rect">
            <a:avLst/>
          </a:prstGeom>
          <a:noFill/>
        </p:spPr>
        <p:txBody>
          <a:bodyPr wrap="square">
            <a:spAutoFit/>
          </a:bodyPr>
          <a:lstStyle/>
          <a:p>
            <a:pPr algn="l"/>
            <a:r>
              <a:rPr sz="1800" b="1">
                <a:solidFill>
                  <a:srgbClr val="1E2F6E"/>
                </a:solidFill>
                <a:latin typeface="Calibri"/>
              </a:rPr>
              <a:t>Detect</a:t>
            </a:r>
          </a:p>
        </p:txBody>
      </p:sp>
      <p:sp>
        <p:nvSpPr>
          <p:cNvPr id="21" name="TextBox 20"/>
          <p:cNvSpPr txBox="1"/>
          <p:nvPr/>
        </p:nvSpPr>
        <p:spPr>
          <a:xfrm>
            <a:off x="8412479" y="2148840"/>
            <a:ext cx="3246120" cy="914400"/>
          </a:xfrm>
          <a:prstGeom prst="rect">
            <a:avLst/>
          </a:prstGeom>
          <a:noFill/>
        </p:spPr>
        <p:txBody>
          <a:bodyPr wrap="square">
            <a:spAutoFit/>
          </a:bodyPr>
          <a:lstStyle/>
          <a:p>
            <a:pPr algn="l"/>
            <a:r>
              <a:rPr sz="1400" b="0">
                <a:solidFill>
                  <a:srgbClr val="475569"/>
                </a:solidFill>
                <a:latin typeface="Calibri"/>
              </a:rPr>
              <a:t>PII, hallucination, bias, policy — in parallel</a:t>
            </a:r>
          </a:p>
        </p:txBody>
      </p:sp>
      <p:sp>
        <p:nvSpPr>
          <p:cNvPr id="22" name="Rounded Rectangle 21"/>
          <p:cNvSpPr/>
          <p:nvPr/>
        </p:nvSpPr>
        <p:spPr>
          <a:xfrm>
            <a:off x="411480" y="356616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379476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3858768"/>
            <a:ext cx="457200" cy="365760"/>
          </a:xfrm>
          <a:prstGeom prst="rect">
            <a:avLst/>
          </a:prstGeom>
          <a:noFill/>
        </p:spPr>
        <p:txBody>
          <a:bodyPr wrap="square">
            <a:spAutoFit/>
          </a:bodyPr>
          <a:lstStyle/>
          <a:p>
            <a:pPr algn="ctr"/>
            <a:r>
              <a:rPr sz="1600" b="1">
                <a:solidFill>
                  <a:srgbClr val="FFFFFF"/>
                </a:solidFill>
                <a:latin typeface="Calibri"/>
              </a:rPr>
              <a:t>4</a:t>
            </a:r>
          </a:p>
        </p:txBody>
      </p:sp>
      <p:sp>
        <p:nvSpPr>
          <p:cNvPr id="25" name="TextBox 24"/>
          <p:cNvSpPr txBox="1"/>
          <p:nvPr/>
        </p:nvSpPr>
        <p:spPr>
          <a:xfrm>
            <a:off x="1188720" y="3840480"/>
            <a:ext cx="2743200" cy="365760"/>
          </a:xfrm>
          <a:prstGeom prst="rect">
            <a:avLst/>
          </a:prstGeom>
          <a:noFill/>
        </p:spPr>
        <p:txBody>
          <a:bodyPr wrap="square">
            <a:spAutoFit/>
          </a:bodyPr>
          <a:lstStyle/>
          <a:p>
            <a:pPr algn="l"/>
            <a:r>
              <a:rPr sz="1800" b="1">
                <a:solidFill>
                  <a:srgbClr val="1E2F6E"/>
                </a:solidFill>
                <a:latin typeface="Calibri"/>
              </a:rPr>
              <a:t>Aggregate</a:t>
            </a:r>
          </a:p>
        </p:txBody>
      </p:sp>
      <p:sp>
        <p:nvSpPr>
          <p:cNvPr id="26" name="TextBox 25"/>
          <p:cNvSpPr txBox="1"/>
          <p:nvPr/>
        </p:nvSpPr>
        <p:spPr>
          <a:xfrm>
            <a:off x="640080" y="4480560"/>
            <a:ext cx="3246120" cy="914400"/>
          </a:xfrm>
          <a:prstGeom prst="rect">
            <a:avLst/>
          </a:prstGeom>
          <a:noFill/>
        </p:spPr>
        <p:txBody>
          <a:bodyPr wrap="square">
            <a:spAutoFit/>
          </a:bodyPr>
          <a:lstStyle/>
          <a:p>
            <a:pPr algn="l"/>
            <a:r>
              <a:rPr sz="1400" b="0">
                <a:solidFill>
                  <a:srgbClr val="475569"/>
                </a:solidFill>
                <a:latin typeface="Calibri"/>
              </a:rPr>
              <a:t>Weighted score + critical overrides + confidence</a:t>
            </a:r>
          </a:p>
        </p:txBody>
      </p:sp>
      <p:sp>
        <p:nvSpPr>
          <p:cNvPr id="27" name="Rounded Rectangle 26"/>
          <p:cNvSpPr/>
          <p:nvPr/>
        </p:nvSpPr>
        <p:spPr>
          <a:xfrm>
            <a:off x="4297680" y="356616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80560" y="379476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858768"/>
            <a:ext cx="457200" cy="365760"/>
          </a:xfrm>
          <a:prstGeom prst="rect">
            <a:avLst/>
          </a:prstGeom>
          <a:noFill/>
        </p:spPr>
        <p:txBody>
          <a:bodyPr wrap="square">
            <a:spAutoFit/>
          </a:bodyPr>
          <a:lstStyle/>
          <a:p>
            <a:pPr algn="ctr"/>
            <a:r>
              <a:rPr sz="1600" b="1">
                <a:solidFill>
                  <a:srgbClr val="FFFFFF"/>
                </a:solidFill>
                <a:latin typeface="Calibri"/>
              </a:rPr>
              <a:t>5</a:t>
            </a:r>
          </a:p>
        </p:txBody>
      </p:sp>
      <p:sp>
        <p:nvSpPr>
          <p:cNvPr id="30" name="TextBox 29"/>
          <p:cNvSpPr txBox="1"/>
          <p:nvPr/>
        </p:nvSpPr>
        <p:spPr>
          <a:xfrm>
            <a:off x="5074920" y="3840480"/>
            <a:ext cx="2743200" cy="365760"/>
          </a:xfrm>
          <a:prstGeom prst="rect">
            <a:avLst/>
          </a:prstGeom>
          <a:noFill/>
        </p:spPr>
        <p:txBody>
          <a:bodyPr wrap="square">
            <a:spAutoFit/>
          </a:bodyPr>
          <a:lstStyle/>
          <a:p>
            <a:pPr algn="l"/>
            <a:r>
              <a:rPr sz="1800" b="1">
                <a:solidFill>
                  <a:srgbClr val="1E2F6E"/>
                </a:solidFill>
                <a:latin typeface="Calibri"/>
              </a:rPr>
              <a:t>Decide</a:t>
            </a:r>
          </a:p>
        </p:txBody>
      </p:sp>
      <p:sp>
        <p:nvSpPr>
          <p:cNvPr id="31" name="TextBox 30"/>
          <p:cNvSpPr txBox="1"/>
          <p:nvPr/>
        </p:nvSpPr>
        <p:spPr>
          <a:xfrm>
            <a:off x="4526280" y="4480560"/>
            <a:ext cx="3246120" cy="914400"/>
          </a:xfrm>
          <a:prstGeom prst="rect">
            <a:avLst/>
          </a:prstGeom>
          <a:noFill/>
        </p:spPr>
        <p:txBody>
          <a:bodyPr wrap="square">
            <a:spAutoFit/>
          </a:bodyPr>
          <a:lstStyle/>
          <a:p>
            <a:pPr algn="l"/>
            <a:r>
              <a:rPr sz="1400" b="0">
                <a:solidFill>
                  <a:srgbClr val="475569"/>
                </a:solidFill>
                <a:latin typeface="Calibri"/>
              </a:rPr>
              <a:t>ALLOW / EDIT / FLAG / HUMAN REVIEW / BLOCK</a:t>
            </a:r>
          </a:p>
        </p:txBody>
      </p:sp>
      <p:sp>
        <p:nvSpPr>
          <p:cNvPr id="32" name="Rounded Rectangle 31"/>
          <p:cNvSpPr/>
          <p:nvPr/>
        </p:nvSpPr>
        <p:spPr>
          <a:xfrm>
            <a:off x="8183879" y="3566160"/>
            <a:ext cx="3703320" cy="2103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66759" y="3794760"/>
            <a:ext cx="457200" cy="457200"/>
          </a:xfrm>
          <a:prstGeom prst="roundRect">
            <a:avLst>
              <a:gd name="adj" fmla="val 8000"/>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59" y="3858768"/>
            <a:ext cx="457200" cy="365760"/>
          </a:xfrm>
          <a:prstGeom prst="rect">
            <a:avLst/>
          </a:prstGeom>
          <a:noFill/>
        </p:spPr>
        <p:txBody>
          <a:bodyPr wrap="square">
            <a:spAutoFit/>
          </a:bodyPr>
          <a:lstStyle/>
          <a:p>
            <a:pPr algn="ctr"/>
            <a:r>
              <a:rPr sz="1600" b="1">
                <a:solidFill>
                  <a:srgbClr val="FFFFFF"/>
                </a:solidFill>
                <a:latin typeface="Calibri"/>
              </a:rPr>
              <a:t>6</a:t>
            </a:r>
          </a:p>
        </p:txBody>
      </p:sp>
      <p:sp>
        <p:nvSpPr>
          <p:cNvPr id="35" name="TextBox 34"/>
          <p:cNvSpPr txBox="1"/>
          <p:nvPr/>
        </p:nvSpPr>
        <p:spPr>
          <a:xfrm>
            <a:off x="8961119" y="3840480"/>
            <a:ext cx="2743200" cy="365760"/>
          </a:xfrm>
          <a:prstGeom prst="rect">
            <a:avLst/>
          </a:prstGeom>
          <a:noFill/>
        </p:spPr>
        <p:txBody>
          <a:bodyPr wrap="square">
            <a:spAutoFit/>
          </a:bodyPr>
          <a:lstStyle/>
          <a:p>
            <a:pPr algn="l"/>
            <a:r>
              <a:rPr sz="1800" b="1">
                <a:solidFill>
                  <a:srgbClr val="1E2F6E"/>
                </a:solidFill>
                <a:latin typeface="Calibri"/>
              </a:rPr>
              <a:t>Govern</a:t>
            </a:r>
          </a:p>
        </p:txBody>
      </p:sp>
      <p:sp>
        <p:nvSpPr>
          <p:cNvPr id="36" name="TextBox 35"/>
          <p:cNvSpPr txBox="1"/>
          <p:nvPr/>
        </p:nvSpPr>
        <p:spPr>
          <a:xfrm>
            <a:off x="8412479" y="4480560"/>
            <a:ext cx="3246120" cy="914400"/>
          </a:xfrm>
          <a:prstGeom prst="rect">
            <a:avLst/>
          </a:prstGeom>
          <a:noFill/>
        </p:spPr>
        <p:txBody>
          <a:bodyPr wrap="square">
            <a:spAutoFit/>
          </a:bodyPr>
          <a:lstStyle/>
          <a:p>
            <a:pPr algn="l"/>
            <a:r>
              <a:rPr sz="1400" b="0">
                <a:solidFill>
                  <a:srgbClr val="475569"/>
                </a:solidFill>
                <a:latin typeface="Calibri"/>
              </a:rPr>
              <a:t>User output + audit log + review queue + analytics</a:t>
            </a:r>
          </a:p>
        </p:txBody>
      </p:sp>
      <p:sp>
        <p:nvSpPr>
          <p:cNvPr id="37" name="Rectangle 36"/>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9" name="TextBox 38"/>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3.2 How risk is detected</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Hybrid stack — LLM is never the only source of quantitative truth</a:t>
            </a:r>
          </a:p>
        </p:txBody>
      </p:sp>
      <p:sp>
        <p:nvSpPr>
          <p:cNvPr id="7" name="Rounded Rectangle 6"/>
          <p:cNvSpPr/>
          <p:nvPr/>
        </p:nvSpPr>
        <p:spPr>
          <a:xfrm>
            <a:off x="365760" y="1188720"/>
            <a:ext cx="566928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98448"/>
            <a:ext cx="5376672" cy="292608"/>
          </a:xfrm>
          <a:prstGeom prst="rect">
            <a:avLst/>
          </a:prstGeom>
          <a:noFill/>
        </p:spPr>
        <p:txBody>
          <a:bodyPr wrap="square">
            <a:spAutoFit/>
          </a:bodyPr>
          <a:lstStyle/>
          <a:p>
            <a:pPr algn="l"/>
            <a:r>
              <a:rPr sz="1300" b="1">
                <a:solidFill>
                  <a:srgbClr val="1E2F6E"/>
                </a:solidFill>
                <a:latin typeface="Calibri"/>
              </a:rPr>
              <a:t>Privacy / PII</a:t>
            </a:r>
          </a:p>
        </p:txBody>
      </p:sp>
      <p:sp>
        <p:nvSpPr>
          <p:cNvPr id="10" name="TextBox 9"/>
          <p:cNvSpPr txBox="1"/>
          <p:nvPr/>
        </p:nvSpPr>
        <p:spPr>
          <a:xfrm>
            <a:off x="566928" y="1591056"/>
            <a:ext cx="5340096" cy="1810512"/>
          </a:xfrm>
          <a:prstGeom prst="rect">
            <a:avLst/>
          </a:prstGeom>
          <a:noFill/>
        </p:spPr>
        <p:txBody>
          <a:bodyPr wrap="square">
            <a:spAutoFit/>
          </a:bodyPr>
          <a:lstStyle/>
          <a:p>
            <a:r>
              <a:rPr sz="1200" b="0">
                <a:solidFill>
                  <a:srgbClr val="475569"/>
                </a:solidFill>
                <a:latin typeface="Calibri"/>
              </a:rPr>
              <a:t>Regex and entity detection for phone, email, IDs, bank, salary, medical data. Optional LLM as secondary check. Supports auto-redaction for EDIT.</a:t>
            </a:r>
          </a:p>
        </p:txBody>
      </p:sp>
      <p:sp>
        <p:nvSpPr>
          <p:cNvPr id="11" name="Rounded Rectangle 10"/>
          <p:cNvSpPr/>
          <p:nvPr/>
        </p:nvSpPr>
        <p:spPr>
          <a:xfrm>
            <a:off x="6217920" y="1188720"/>
            <a:ext cx="566928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18872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298448"/>
            <a:ext cx="5376672" cy="292608"/>
          </a:xfrm>
          <a:prstGeom prst="rect">
            <a:avLst/>
          </a:prstGeom>
          <a:noFill/>
        </p:spPr>
        <p:txBody>
          <a:bodyPr wrap="square">
            <a:spAutoFit/>
          </a:bodyPr>
          <a:lstStyle/>
          <a:p>
            <a:pPr algn="l"/>
            <a:r>
              <a:rPr sz="1300" b="1">
                <a:solidFill>
                  <a:srgbClr val="1E2F6E"/>
                </a:solidFill>
                <a:latin typeface="Calibri"/>
              </a:rPr>
              <a:t>Hallucination</a:t>
            </a:r>
          </a:p>
        </p:txBody>
      </p:sp>
      <p:sp>
        <p:nvSpPr>
          <p:cNvPr id="14" name="TextBox 13"/>
          <p:cNvSpPr txBox="1"/>
          <p:nvPr/>
        </p:nvSpPr>
        <p:spPr>
          <a:xfrm>
            <a:off x="6419088" y="1591056"/>
            <a:ext cx="5340096" cy="1810512"/>
          </a:xfrm>
          <a:prstGeom prst="rect">
            <a:avLst/>
          </a:prstGeom>
          <a:noFill/>
        </p:spPr>
        <p:txBody>
          <a:bodyPr wrap="square">
            <a:spAutoFit/>
          </a:bodyPr>
          <a:lstStyle/>
          <a:p>
            <a:r>
              <a:rPr sz="1200" b="0">
                <a:solidFill>
                  <a:srgbClr val="475569"/>
                </a:solidFill>
                <a:latin typeface="Calibri"/>
              </a:rPr>
              <a:t>Claim extraction → retrieve enterprise documents → SUPPORTED / CONTRADICTED / UNSUPPORTED / UNVERIFIABLE. Abstain if evidence is missing.</a:t>
            </a:r>
          </a:p>
        </p:txBody>
      </p:sp>
      <p:sp>
        <p:nvSpPr>
          <p:cNvPr id="15" name="Rounded Rectangle 14"/>
          <p:cNvSpPr/>
          <p:nvPr/>
        </p:nvSpPr>
        <p:spPr>
          <a:xfrm>
            <a:off x="365760" y="3657600"/>
            <a:ext cx="566928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65760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767328"/>
            <a:ext cx="5376672" cy="292608"/>
          </a:xfrm>
          <a:prstGeom prst="rect">
            <a:avLst/>
          </a:prstGeom>
          <a:noFill/>
        </p:spPr>
        <p:txBody>
          <a:bodyPr wrap="square">
            <a:spAutoFit/>
          </a:bodyPr>
          <a:lstStyle/>
          <a:p>
            <a:pPr algn="l"/>
            <a:r>
              <a:rPr sz="1300" b="1">
                <a:solidFill>
                  <a:srgbClr val="1E2F6E"/>
                </a:solidFill>
                <a:latin typeface="Calibri"/>
              </a:rPr>
              <a:t>Bias</a:t>
            </a:r>
          </a:p>
        </p:txBody>
      </p:sp>
      <p:sp>
        <p:nvSpPr>
          <p:cNvPr id="18" name="TextBox 17"/>
          <p:cNvSpPr txBox="1"/>
          <p:nvPr/>
        </p:nvSpPr>
        <p:spPr>
          <a:xfrm>
            <a:off x="566928" y="4059936"/>
            <a:ext cx="5340096" cy="1810512"/>
          </a:xfrm>
          <a:prstGeom prst="rect">
            <a:avLst/>
          </a:prstGeom>
          <a:noFill/>
        </p:spPr>
        <p:txBody>
          <a:bodyPr wrap="square">
            <a:spAutoFit/>
          </a:bodyPr>
          <a:lstStyle/>
          <a:p>
            <a:r>
              <a:rPr sz="1200" b="0">
                <a:solidFill>
                  <a:srgbClr val="475569"/>
                </a:solidFill>
                <a:latin typeface="Calibri"/>
              </a:rPr>
              <a:t>Protected-attribute heuristics plus optional LLM judge. Language is “potential bias.” High-impact cases go to human review.</a:t>
            </a:r>
          </a:p>
        </p:txBody>
      </p:sp>
      <p:sp>
        <p:nvSpPr>
          <p:cNvPr id="19" name="Rounded Rectangle 18"/>
          <p:cNvSpPr/>
          <p:nvPr/>
        </p:nvSpPr>
        <p:spPr>
          <a:xfrm>
            <a:off x="6217920" y="3657600"/>
            <a:ext cx="566928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657600"/>
            <a:ext cx="73152" cy="2286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767328"/>
            <a:ext cx="5376672" cy="292608"/>
          </a:xfrm>
          <a:prstGeom prst="rect">
            <a:avLst/>
          </a:prstGeom>
          <a:noFill/>
        </p:spPr>
        <p:txBody>
          <a:bodyPr wrap="square">
            <a:spAutoFit/>
          </a:bodyPr>
          <a:lstStyle/>
          <a:p>
            <a:pPr algn="l"/>
            <a:r>
              <a:rPr sz="1300" b="1">
                <a:solidFill>
                  <a:srgbClr val="1E2F6E"/>
                </a:solidFill>
                <a:latin typeface="Calibri"/>
              </a:rPr>
              <a:t>Policy</a:t>
            </a:r>
          </a:p>
        </p:txBody>
      </p:sp>
      <p:sp>
        <p:nvSpPr>
          <p:cNvPr id="22" name="TextBox 21"/>
          <p:cNvSpPr txBox="1"/>
          <p:nvPr/>
        </p:nvSpPr>
        <p:spPr>
          <a:xfrm>
            <a:off x="6419088" y="4059936"/>
            <a:ext cx="5340096" cy="1810512"/>
          </a:xfrm>
          <a:prstGeom prst="rect">
            <a:avLst/>
          </a:prstGeom>
          <a:noFill/>
        </p:spPr>
        <p:txBody>
          <a:bodyPr wrap="square">
            <a:spAutoFit/>
          </a:bodyPr>
          <a:lstStyle/>
          <a:p>
            <a:r>
              <a:rPr sz="1200" b="0">
                <a:solidFill>
                  <a:srgbClr val="475569"/>
                </a:solidFill>
                <a:latin typeface="Calibri"/>
              </a:rPr>
              <a:t>Enterprise rules: sensitive disclosure, decision oversight, overclaiming, application scope. Example: employee copilot must not make a credit decision.</a:t>
            </a:r>
          </a:p>
        </p:txBody>
      </p:sp>
      <p:sp>
        <p:nvSpPr>
          <p:cNvPr id="23" name="Rectangle 22"/>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5" name="TextBox 24"/>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3.3 Scoring and decision logic</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Severe individual risk is never hidden by averaging</a:t>
            </a:r>
          </a:p>
        </p:txBody>
      </p:sp>
      <p:sp>
        <p:nvSpPr>
          <p:cNvPr id="7" name="TextBox 6"/>
          <p:cNvSpPr txBox="1"/>
          <p:nvPr/>
        </p:nvSpPr>
        <p:spPr>
          <a:xfrm>
            <a:off x="457200" y="1143000"/>
            <a:ext cx="11247120" cy="502920"/>
          </a:xfrm>
          <a:prstGeom prst="rect">
            <a:avLst/>
          </a:prstGeom>
          <a:noFill/>
        </p:spPr>
        <p:txBody>
          <a:bodyPr wrap="square">
            <a:spAutoFit/>
          </a:bodyPr>
          <a:lstStyle/>
          <a:p>
            <a:pPr algn="l"/>
            <a:r>
              <a:rPr sz="1400" b="0">
                <a:solidFill>
                  <a:srgbClr val="1E293B"/>
                </a:solidFill>
                <a:latin typeface="Calibri"/>
              </a:rPr>
              <a:t>Overall risk = weighted privacy + hallucination + bias + policy. Weights come from the selected application policy.</a:t>
            </a:r>
          </a:p>
        </p:txBody>
      </p:sp>
      <p:sp>
        <p:nvSpPr>
          <p:cNvPr id="8" name="Rounded Rectangle 7"/>
          <p:cNvSpPr/>
          <p:nvPr/>
        </p:nvSpPr>
        <p:spPr>
          <a:xfrm>
            <a:off x="365760" y="1737360"/>
            <a:ext cx="2788920" cy="1143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874519"/>
            <a:ext cx="2606040" cy="411480"/>
          </a:xfrm>
          <a:prstGeom prst="rect">
            <a:avLst/>
          </a:prstGeom>
          <a:noFill/>
        </p:spPr>
        <p:txBody>
          <a:bodyPr wrap="square">
            <a:spAutoFit/>
          </a:bodyPr>
          <a:lstStyle/>
          <a:p>
            <a:pPr algn="l"/>
            <a:r>
              <a:rPr sz="1200" b="1">
                <a:solidFill>
                  <a:srgbClr val="475569"/>
                </a:solidFill>
                <a:latin typeface="Calibri"/>
              </a:rPr>
              <a:t>Privacy ≥ 95</a:t>
            </a:r>
          </a:p>
        </p:txBody>
      </p:sp>
      <p:sp>
        <p:nvSpPr>
          <p:cNvPr id="10" name="TextBox 9"/>
          <p:cNvSpPr txBox="1"/>
          <p:nvPr/>
        </p:nvSpPr>
        <p:spPr>
          <a:xfrm>
            <a:off x="457200" y="2286000"/>
            <a:ext cx="2606040" cy="411480"/>
          </a:xfrm>
          <a:prstGeom prst="rect">
            <a:avLst/>
          </a:prstGeom>
          <a:noFill/>
        </p:spPr>
        <p:txBody>
          <a:bodyPr wrap="square">
            <a:spAutoFit/>
          </a:bodyPr>
          <a:lstStyle/>
          <a:p>
            <a:pPr algn="l"/>
            <a:r>
              <a:rPr sz="1600" b="1">
                <a:solidFill>
                  <a:srgbClr val="1E2F6E"/>
                </a:solidFill>
                <a:latin typeface="Calibri"/>
              </a:rPr>
              <a:t>BLOCK</a:t>
            </a:r>
          </a:p>
        </p:txBody>
      </p:sp>
      <p:sp>
        <p:nvSpPr>
          <p:cNvPr id="11" name="Rounded Rectangle 10"/>
          <p:cNvSpPr/>
          <p:nvPr/>
        </p:nvSpPr>
        <p:spPr>
          <a:xfrm>
            <a:off x="3291840" y="1737360"/>
            <a:ext cx="2788920" cy="1143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874519"/>
            <a:ext cx="2606040" cy="411480"/>
          </a:xfrm>
          <a:prstGeom prst="rect">
            <a:avLst/>
          </a:prstGeom>
          <a:noFill/>
        </p:spPr>
        <p:txBody>
          <a:bodyPr wrap="square">
            <a:spAutoFit/>
          </a:bodyPr>
          <a:lstStyle/>
          <a:p>
            <a:pPr algn="l"/>
            <a:r>
              <a:rPr sz="1200" b="1">
                <a:solidFill>
                  <a:srgbClr val="475569"/>
                </a:solidFill>
                <a:latin typeface="Calibri"/>
              </a:rPr>
              <a:t>Bias ≥ 90 in very-strict apps</a:t>
            </a:r>
          </a:p>
        </p:txBody>
      </p:sp>
      <p:sp>
        <p:nvSpPr>
          <p:cNvPr id="13" name="TextBox 12"/>
          <p:cNvSpPr txBox="1"/>
          <p:nvPr/>
        </p:nvSpPr>
        <p:spPr>
          <a:xfrm>
            <a:off x="3383280" y="2286000"/>
            <a:ext cx="2606040" cy="411480"/>
          </a:xfrm>
          <a:prstGeom prst="rect">
            <a:avLst/>
          </a:prstGeom>
          <a:noFill/>
        </p:spPr>
        <p:txBody>
          <a:bodyPr wrap="square">
            <a:spAutoFit/>
          </a:bodyPr>
          <a:lstStyle/>
          <a:p>
            <a:pPr algn="l"/>
            <a:r>
              <a:rPr sz="1600" b="1">
                <a:solidFill>
                  <a:srgbClr val="1E2F6E"/>
                </a:solidFill>
                <a:latin typeface="Calibri"/>
              </a:rPr>
              <a:t>HUMAN REVIEW</a:t>
            </a:r>
          </a:p>
        </p:txBody>
      </p:sp>
      <p:sp>
        <p:nvSpPr>
          <p:cNvPr id="14" name="Rounded Rectangle 13"/>
          <p:cNvSpPr/>
          <p:nvPr/>
        </p:nvSpPr>
        <p:spPr>
          <a:xfrm>
            <a:off x="6217920" y="1737360"/>
            <a:ext cx="2788920" cy="1143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874519"/>
            <a:ext cx="2606040" cy="411480"/>
          </a:xfrm>
          <a:prstGeom prst="rect">
            <a:avLst/>
          </a:prstGeom>
          <a:noFill/>
        </p:spPr>
        <p:txBody>
          <a:bodyPr wrap="square">
            <a:spAutoFit/>
          </a:bodyPr>
          <a:lstStyle/>
          <a:p>
            <a:pPr algn="l"/>
            <a:r>
              <a:rPr sz="1200" b="1">
                <a:solidFill>
                  <a:srgbClr val="475569"/>
                </a:solidFill>
                <a:latin typeface="Calibri"/>
              </a:rPr>
              <a:t>Evidence confidence &lt; 25%</a:t>
            </a:r>
          </a:p>
        </p:txBody>
      </p:sp>
      <p:sp>
        <p:nvSpPr>
          <p:cNvPr id="16" name="TextBox 15"/>
          <p:cNvSpPr txBox="1"/>
          <p:nvPr/>
        </p:nvSpPr>
        <p:spPr>
          <a:xfrm>
            <a:off x="6309360" y="2286000"/>
            <a:ext cx="2606040" cy="411480"/>
          </a:xfrm>
          <a:prstGeom prst="rect">
            <a:avLst/>
          </a:prstGeom>
          <a:noFill/>
        </p:spPr>
        <p:txBody>
          <a:bodyPr wrap="square">
            <a:spAutoFit/>
          </a:bodyPr>
          <a:lstStyle/>
          <a:p>
            <a:pPr algn="l"/>
            <a:r>
              <a:rPr sz="1600" b="1">
                <a:solidFill>
                  <a:srgbClr val="1E2F6E"/>
                </a:solidFill>
                <a:latin typeface="Calibri"/>
              </a:rPr>
              <a:t>ABSTAIN / REVIEW</a:t>
            </a:r>
          </a:p>
        </p:txBody>
      </p:sp>
      <p:sp>
        <p:nvSpPr>
          <p:cNvPr id="17" name="Rounded Rectangle 16"/>
          <p:cNvSpPr/>
          <p:nvPr/>
        </p:nvSpPr>
        <p:spPr>
          <a:xfrm>
            <a:off x="9144000" y="1737360"/>
            <a:ext cx="2788920" cy="11430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874519"/>
            <a:ext cx="2606040" cy="411480"/>
          </a:xfrm>
          <a:prstGeom prst="rect">
            <a:avLst/>
          </a:prstGeom>
          <a:noFill/>
        </p:spPr>
        <p:txBody>
          <a:bodyPr wrap="square">
            <a:spAutoFit/>
          </a:bodyPr>
          <a:lstStyle/>
          <a:p>
            <a:pPr algn="l"/>
            <a:r>
              <a:rPr sz="1200" b="1">
                <a:solidFill>
                  <a:srgbClr val="475569"/>
                </a:solidFill>
                <a:latin typeface="Calibri"/>
              </a:rPr>
              <a:t>Detector unavailable</a:t>
            </a:r>
          </a:p>
        </p:txBody>
      </p:sp>
      <p:sp>
        <p:nvSpPr>
          <p:cNvPr id="19" name="TextBox 18"/>
          <p:cNvSpPr txBox="1"/>
          <p:nvPr/>
        </p:nvSpPr>
        <p:spPr>
          <a:xfrm>
            <a:off x="9235440" y="2286000"/>
            <a:ext cx="2606040" cy="411480"/>
          </a:xfrm>
          <a:prstGeom prst="rect">
            <a:avLst/>
          </a:prstGeom>
          <a:noFill/>
        </p:spPr>
        <p:txBody>
          <a:bodyPr wrap="square">
            <a:spAutoFit/>
          </a:bodyPr>
          <a:lstStyle/>
          <a:p>
            <a:pPr algn="l"/>
            <a:r>
              <a:rPr sz="1600" b="1">
                <a:solidFill>
                  <a:srgbClr val="1E2F6E"/>
                </a:solidFill>
                <a:latin typeface="Calibri"/>
              </a:rPr>
              <a:t>Fail-safe FLAG / REVIEW</a:t>
            </a:r>
          </a:p>
        </p:txBody>
      </p:sp>
      <p:sp>
        <p:nvSpPr>
          <p:cNvPr id="20" name="Rounded Rectangle 19"/>
          <p:cNvSpPr/>
          <p:nvPr/>
        </p:nvSpPr>
        <p:spPr>
          <a:xfrm>
            <a:off x="320040" y="3154680"/>
            <a:ext cx="224028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154680"/>
            <a:ext cx="2240280" cy="109728"/>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383280"/>
            <a:ext cx="2057400" cy="640080"/>
          </a:xfrm>
          <a:prstGeom prst="rect">
            <a:avLst/>
          </a:prstGeom>
          <a:noFill/>
        </p:spPr>
        <p:txBody>
          <a:bodyPr wrap="square">
            <a:spAutoFit/>
          </a:bodyPr>
          <a:lstStyle/>
          <a:p>
            <a:pPr algn="ctr"/>
            <a:r>
              <a:rPr sz="1300" b="1">
                <a:solidFill>
                  <a:srgbClr val="047857"/>
                </a:solidFill>
                <a:latin typeface="Calibri"/>
              </a:rPr>
              <a:t>ALLOW</a:t>
            </a:r>
          </a:p>
        </p:txBody>
      </p:sp>
      <p:sp>
        <p:nvSpPr>
          <p:cNvPr id="23" name="TextBox 22"/>
          <p:cNvSpPr txBox="1"/>
          <p:nvPr/>
        </p:nvSpPr>
        <p:spPr>
          <a:xfrm>
            <a:off x="411480" y="4114800"/>
            <a:ext cx="2057400" cy="1005840"/>
          </a:xfrm>
          <a:prstGeom prst="rect">
            <a:avLst/>
          </a:prstGeom>
          <a:noFill/>
        </p:spPr>
        <p:txBody>
          <a:bodyPr wrap="square">
            <a:spAutoFit/>
          </a:bodyPr>
          <a:lstStyle/>
          <a:p>
            <a:pPr algn="ctr"/>
            <a:r>
              <a:rPr sz="1300" b="0">
                <a:solidFill>
                  <a:srgbClr val="475569"/>
                </a:solidFill>
                <a:latin typeface="Calibri"/>
              </a:rPr>
              <a:t>Low risk. Original response.</a:t>
            </a:r>
          </a:p>
        </p:txBody>
      </p:sp>
      <p:sp>
        <p:nvSpPr>
          <p:cNvPr id="24" name="Rounded Rectangle 23"/>
          <p:cNvSpPr/>
          <p:nvPr/>
        </p:nvSpPr>
        <p:spPr>
          <a:xfrm>
            <a:off x="2651760" y="3154680"/>
            <a:ext cx="224028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51760" y="3154680"/>
            <a:ext cx="2240280" cy="109728"/>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3383280"/>
            <a:ext cx="2057400" cy="640080"/>
          </a:xfrm>
          <a:prstGeom prst="rect">
            <a:avLst/>
          </a:prstGeom>
          <a:noFill/>
        </p:spPr>
        <p:txBody>
          <a:bodyPr wrap="square">
            <a:spAutoFit/>
          </a:bodyPr>
          <a:lstStyle/>
          <a:p>
            <a:pPr algn="ctr"/>
            <a:r>
              <a:rPr sz="1300" b="1">
                <a:solidFill>
                  <a:srgbClr val="C2410C"/>
                </a:solidFill>
                <a:latin typeface="Calibri"/>
              </a:rPr>
              <a:t>EDIT</a:t>
            </a:r>
          </a:p>
        </p:txBody>
      </p:sp>
      <p:sp>
        <p:nvSpPr>
          <p:cNvPr id="27" name="TextBox 26"/>
          <p:cNvSpPr txBox="1"/>
          <p:nvPr/>
        </p:nvSpPr>
        <p:spPr>
          <a:xfrm>
            <a:off x="2743200" y="4114800"/>
            <a:ext cx="2057400" cy="1005840"/>
          </a:xfrm>
          <a:prstGeom prst="rect">
            <a:avLst/>
          </a:prstGeom>
          <a:noFill/>
        </p:spPr>
        <p:txBody>
          <a:bodyPr wrap="square">
            <a:spAutoFit/>
          </a:bodyPr>
          <a:lstStyle/>
          <a:p>
            <a:pPr algn="ctr"/>
            <a:r>
              <a:rPr sz="1300" b="0">
                <a:solidFill>
                  <a:srgbClr val="475569"/>
                </a:solidFill>
                <a:latin typeface="Calibri"/>
              </a:rPr>
              <a:t>Auto-sanitized. Redacted text.</a:t>
            </a:r>
          </a:p>
        </p:txBody>
      </p:sp>
      <p:sp>
        <p:nvSpPr>
          <p:cNvPr id="28" name="Rounded Rectangle 27"/>
          <p:cNvSpPr/>
          <p:nvPr/>
        </p:nvSpPr>
        <p:spPr>
          <a:xfrm>
            <a:off x="4983479" y="3154680"/>
            <a:ext cx="224028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83479" y="3154680"/>
            <a:ext cx="2240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74920" y="3383280"/>
            <a:ext cx="2057400" cy="640080"/>
          </a:xfrm>
          <a:prstGeom prst="rect">
            <a:avLst/>
          </a:prstGeom>
          <a:noFill/>
        </p:spPr>
        <p:txBody>
          <a:bodyPr wrap="square">
            <a:spAutoFit/>
          </a:bodyPr>
          <a:lstStyle/>
          <a:p>
            <a:pPr algn="ctr"/>
            <a:r>
              <a:rPr sz="1300" b="1">
                <a:solidFill>
                  <a:srgbClr val="EA580C"/>
                </a:solidFill>
                <a:latin typeface="Calibri"/>
              </a:rPr>
              <a:t>FLAG</a:t>
            </a:r>
          </a:p>
        </p:txBody>
      </p:sp>
      <p:sp>
        <p:nvSpPr>
          <p:cNvPr id="31" name="TextBox 30"/>
          <p:cNvSpPr txBox="1"/>
          <p:nvPr/>
        </p:nvSpPr>
        <p:spPr>
          <a:xfrm>
            <a:off x="5074920" y="4114800"/>
            <a:ext cx="2057400" cy="1005840"/>
          </a:xfrm>
          <a:prstGeom prst="rect">
            <a:avLst/>
          </a:prstGeom>
          <a:noFill/>
        </p:spPr>
        <p:txBody>
          <a:bodyPr wrap="square">
            <a:spAutoFit/>
          </a:bodyPr>
          <a:lstStyle/>
          <a:p>
            <a:pPr algn="ctr"/>
            <a:r>
              <a:rPr sz="1300" b="0">
                <a:solidFill>
                  <a:srgbClr val="475569"/>
                </a:solidFill>
                <a:latin typeface="Calibri"/>
              </a:rPr>
              <a:t>Meaningful risk. Held for review.</a:t>
            </a:r>
          </a:p>
        </p:txBody>
      </p:sp>
      <p:sp>
        <p:nvSpPr>
          <p:cNvPr id="32" name="Rounded Rectangle 31"/>
          <p:cNvSpPr/>
          <p:nvPr/>
        </p:nvSpPr>
        <p:spPr>
          <a:xfrm>
            <a:off x="7315199" y="3154680"/>
            <a:ext cx="224028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199" y="3154680"/>
            <a:ext cx="2240280" cy="10972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3383280"/>
            <a:ext cx="2057400" cy="640080"/>
          </a:xfrm>
          <a:prstGeom prst="rect">
            <a:avLst/>
          </a:prstGeom>
          <a:noFill/>
        </p:spPr>
        <p:txBody>
          <a:bodyPr wrap="square">
            <a:spAutoFit/>
          </a:bodyPr>
          <a:lstStyle/>
          <a:p>
            <a:pPr algn="ctr"/>
            <a:r>
              <a:rPr sz="1300" b="1">
                <a:solidFill>
                  <a:srgbClr val="6D28D9"/>
                </a:solidFill>
                <a:latin typeface="Calibri"/>
              </a:rPr>
              <a:t>HUMAN REVIEW</a:t>
            </a:r>
          </a:p>
        </p:txBody>
      </p:sp>
      <p:sp>
        <p:nvSpPr>
          <p:cNvPr id="35" name="TextBox 34"/>
          <p:cNvSpPr txBox="1"/>
          <p:nvPr/>
        </p:nvSpPr>
        <p:spPr>
          <a:xfrm>
            <a:off x="7406640" y="4114800"/>
            <a:ext cx="2057400" cy="1005840"/>
          </a:xfrm>
          <a:prstGeom prst="rect">
            <a:avLst/>
          </a:prstGeom>
          <a:noFill/>
        </p:spPr>
        <p:txBody>
          <a:bodyPr wrap="square">
            <a:spAutoFit/>
          </a:bodyPr>
          <a:lstStyle/>
          <a:p>
            <a:pPr algn="ctr"/>
            <a:r>
              <a:rPr sz="1300" b="0">
                <a:solidFill>
                  <a:srgbClr val="475569"/>
                </a:solidFill>
                <a:latin typeface="Calibri"/>
              </a:rPr>
              <a:t>High-impact or uncertain.</a:t>
            </a:r>
          </a:p>
        </p:txBody>
      </p:sp>
      <p:sp>
        <p:nvSpPr>
          <p:cNvPr id="36" name="Rounded Rectangle 35"/>
          <p:cNvSpPr/>
          <p:nvPr/>
        </p:nvSpPr>
        <p:spPr>
          <a:xfrm>
            <a:off x="9646919" y="3154680"/>
            <a:ext cx="2240280" cy="2194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46919" y="3154680"/>
            <a:ext cx="2240280" cy="10972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59" y="3383280"/>
            <a:ext cx="2057400" cy="640080"/>
          </a:xfrm>
          <a:prstGeom prst="rect">
            <a:avLst/>
          </a:prstGeom>
          <a:noFill/>
        </p:spPr>
        <p:txBody>
          <a:bodyPr wrap="square">
            <a:spAutoFit/>
          </a:bodyPr>
          <a:lstStyle/>
          <a:p>
            <a:pPr algn="ctr"/>
            <a:r>
              <a:rPr sz="1300" b="1">
                <a:solidFill>
                  <a:srgbClr val="B91C1C"/>
                </a:solidFill>
                <a:latin typeface="Calibri"/>
              </a:rPr>
              <a:t>BLOCK</a:t>
            </a:r>
          </a:p>
        </p:txBody>
      </p:sp>
      <p:sp>
        <p:nvSpPr>
          <p:cNvPr id="39" name="TextBox 38"/>
          <p:cNvSpPr txBox="1"/>
          <p:nvPr/>
        </p:nvSpPr>
        <p:spPr>
          <a:xfrm>
            <a:off x="9738359" y="4114800"/>
            <a:ext cx="2057400" cy="1005840"/>
          </a:xfrm>
          <a:prstGeom prst="rect">
            <a:avLst/>
          </a:prstGeom>
          <a:noFill/>
        </p:spPr>
        <p:txBody>
          <a:bodyPr wrap="square">
            <a:spAutoFit/>
          </a:bodyPr>
          <a:lstStyle/>
          <a:p>
            <a:pPr algn="ctr"/>
            <a:r>
              <a:rPr sz="1300" b="0">
                <a:solidFill>
                  <a:srgbClr val="475569"/>
                </a:solidFill>
                <a:latin typeface="Calibri"/>
              </a:rPr>
              <a:t>Critical violation. Safe message.</a:t>
            </a:r>
          </a:p>
        </p:txBody>
      </p:sp>
      <p:sp>
        <p:nvSpPr>
          <p:cNvPr id="40" name="Rectangle 39"/>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42" name="TextBox 41"/>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3.4 Same output. Different policy. Different decision.</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The commercial proof of the control-plane idea</a:t>
            </a:r>
          </a:p>
        </p:txBody>
      </p:sp>
      <p:sp>
        <p:nvSpPr>
          <p:cNvPr id="7" name="TextBox 6"/>
          <p:cNvSpPr txBox="1"/>
          <p:nvPr/>
        </p:nvSpPr>
        <p:spPr>
          <a:xfrm>
            <a:off x="457200" y="1143000"/>
            <a:ext cx="11247120" cy="640080"/>
          </a:xfrm>
          <a:prstGeom prst="rect">
            <a:avLst/>
          </a:prstGeom>
          <a:noFill/>
        </p:spPr>
        <p:txBody>
          <a:bodyPr wrap="square">
            <a:spAutoFit/>
          </a:bodyPr>
          <a:lstStyle/>
          <a:p>
            <a:pPr algn="l"/>
            <a:r>
              <a:rPr sz="1400" b="0">
                <a:solidFill>
                  <a:srgbClr val="1E293B"/>
                </a:solidFill>
                <a:latin typeface="Calibri"/>
              </a:rPr>
              <a:t>Example response: “The customer request should probably be rejected, although records are incomplete and repayment history could not be verified.”</a:t>
            </a:r>
          </a:p>
        </p:txBody>
      </p:sp>
      <p:sp>
        <p:nvSpPr>
          <p:cNvPr id="8" name="Rounded Rectangle 7"/>
          <p:cNvSpPr/>
          <p:nvPr/>
        </p:nvSpPr>
        <p:spPr>
          <a:xfrm>
            <a:off x="365760" y="1920240"/>
            <a:ext cx="370332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57400"/>
            <a:ext cx="3429000" cy="365760"/>
          </a:xfrm>
          <a:prstGeom prst="rect">
            <a:avLst/>
          </a:prstGeom>
          <a:noFill/>
        </p:spPr>
        <p:txBody>
          <a:bodyPr wrap="square">
            <a:spAutoFit/>
          </a:bodyPr>
          <a:lstStyle/>
          <a:p>
            <a:pPr algn="l"/>
            <a:r>
              <a:rPr sz="1600" b="1">
                <a:solidFill>
                  <a:srgbClr val="1E2F6E"/>
                </a:solidFill>
                <a:latin typeface="Calibri"/>
              </a:rPr>
              <a:t>Customer Support</a:t>
            </a:r>
          </a:p>
        </p:txBody>
      </p:sp>
      <p:sp>
        <p:nvSpPr>
          <p:cNvPr id="10" name="TextBox 9"/>
          <p:cNvSpPr txBox="1"/>
          <p:nvPr/>
        </p:nvSpPr>
        <p:spPr>
          <a:xfrm>
            <a:off x="502920" y="2468880"/>
            <a:ext cx="3429000" cy="320040"/>
          </a:xfrm>
          <a:prstGeom prst="rect">
            <a:avLst/>
          </a:prstGeom>
          <a:noFill/>
        </p:spPr>
        <p:txBody>
          <a:bodyPr wrap="square">
            <a:spAutoFit/>
          </a:bodyPr>
          <a:lstStyle/>
          <a:p>
            <a:pPr algn="l"/>
            <a:r>
              <a:rPr sz="1200" b="0">
                <a:solidFill>
                  <a:srgbClr val="475569"/>
                </a:solidFill>
                <a:latin typeface="Calibri"/>
              </a:rPr>
              <a:t>Profile: BALANCED</a:t>
            </a:r>
          </a:p>
        </p:txBody>
      </p:sp>
      <p:sp>
        <p:nvSpPr>
          <p:cNvPr id="11" name="Rounded Rectangle 10"/>
          <p:cNvSpPr/>
          <p:nvPr/>
        </p:nvSpPr>
        <p:spPr>
          <a:xfrm>
            <a:off x="640080" y="2926080"/>
            <a:ext cx="3154680" cy="548640"/>
          </a:xfrm>
          <a:prstGeom prst="roundRect">
            <a:avLst>
              <a:gd name="adj" fmla="val 8000"/>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017520"/>
            <a:ext cx="3154680" cy="411480"/>
          </a:xfrm>
          <a:prstGeom prst="rect">
            <a:avLst/>
          </a:prstGeom>
          <a:noFill/>
        </p:spPr>
        <p:txBody>
          <a:bodyPr wrap="square">
            <a:spAutoFit/>
          </a:bodyPr>
          <a:lstStyle/>
          <a:p>
            <a:pPr algn="ctr"/>
            <a:r>
              <a:rPr sz="1600" b="1">
                <a:solidFill>
                  <a:srgbClr val="FFFFFF"/>
                </a:solidFill>
                <a:latin typeface="Calibri"/>
              </a:rPr>
              <a:t>FLAG</a:t>
            </a:r>
          </a:p>
        </p:txBody>
      </p:sp>
      <p:sp>
        <p:nvSpPr>
          <p:cNvPr id="13" name="TextBox 12"/>
          <p:cNvSpPr txBox="1"/>
          <p:nvPr/>
        </p:nvSpPr>
        <p:spPr>
          <a:xfrm>
            <a:off x="502920" y="3703320"/>
            <a:ext cx="3429000" cy="1371600"/>
          </a:xfrm>
          <a:prstGeom prst="rect">
            <a:avLst/>
          </a:prstGeom>
          <a:noFill/>
        </p:spPr>
        <p:txBody>
          <a:bodyPr wrap="square">
            <a:spAutoFit/>
          </a:bodyPr>
          <a:lstStyle/>
          <a:p>
            <a:pPr algn="l"/>
            <a:r>
              <a:rPr sz="1400" b="0">
                <a:solidFill>
                  <a:srgbClr val="1E293B"/>
                </a:solidFill>
                <a:latin typeface="Calibri"/>
              </a:rPr>
              <a:t>Can flag uncertain customer handling without freezing the channel.</a:t>
            </a:r>
          </a:p>
        </p:txBody>
      </p:sp>
      <p:sp>
        <p:nvSpPr>
          <p:cNvPr id="14" name="Rounded Rectangle 13"/>
          <p:cNvSpPr/>
          <p:nvPr/>
        </p:nvSpPr>
        <p:spPr>
          <a:xfrm>
            <a:off x="4251960" y="1920240"/>
            <a:ext cx="370332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057400"/>
            <a:ext cx="3429000" cy="365760"/>
          </a:xfrm>
          <a:prstGeom prst="rect">
            <a:avLst/>
          </a:prstGeom>
          <a:noFill/>
        </p:spPr>
        <p:txBody>
          <a:bodyPr wrap="square">
            <a:spAutoFit/>
          </a:bodyPr>
          <a:lstStyle/>
          <a:p>
            <a:pPr algn="l"/>
            <a:r>
              <a:rPr sz="1600" b="1">
                <a:solidFill>
                  <a:srgbClr val="1E2F6E"/>
                </a:solidFill>
                <a:latin typeface="Calibri"/>
              </a:rPr>
              <a:t>Employee Copilot</a:t>
            </a:r>
          </a:p>
        </p:txBody>
      </p:sp>
      <p:sp>
        <p:nvSpPr>
          <p:cNvPr id="16" name="TextBox 15"/>
          <p:cNvSpPr txBox="1"/>
          <p:nvPr/>
        </p:nvSpPr>
        <p:spPr>
          <a:xfrm>
            <a:off x="4389120" y="2468880"/>
            <a:ext cx="3429000" cy="320040"/>
          </a:xfrm>
          <a:prstGeom prst="rect">
            <a:avLst/>
          </a:prstGeom>
          <a:noFill/>
        </p:spPr>
        <p:txBody>
          <a:bodyPr wrap="square">
            <a:spAutoFit/>
          </a:bodyPr>
          <a:lstStyle/>
          <a:p>
            <a:pPr algn="l"/>
            <a:r>
              <a:rPr sz="1200" b="0">
                <a:solidFill>
                  <a:srgbClr val="475569"/>
                </a:solidFill>
                <a:latin typeface="Calibri"/>
              </a:rPr>
              <a:t>Profile: STRICT</a:t>
            </a:r>
          </a:p>
        </p:txBody>
      </p:sp>
      <p:sp>
        <p:nvSpPr>
          <p:cNvPr id="17" name="Rounded Rectangle 16"/>
          <p:cNvSpPr/>
          <p:nvPr/>
        </p:nvSpPr>
        <p:spPr>
          <a:xfrm>
            <a:off x="4526280" y="2926080"/>
            <a:ext cx="3154680" cy="548640"/>
          </a:xfrm>
          <a:prstGeom prst="roundRect">
            <a:avLst>
              <a:gd name="adj" fmla="val 8000"/>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3017520"/>
            <a:ext cx="3154680" cy="411480"/>
          </a:xfrm>
          <a:prstGeom prst="rect">
            <a:avLst/>
          </a:prstGeom>
          <a:noFill/>
        </p:spPr>
        <p:txBody>
          <a:bodyPr wrap="square">
            <a:spAutoFit/>
          </a:bodyPr>
          <a:lstStyle/>
          <a:p>
            <a:pPr algn="ctr"/>
            <a:r>
              <a:rPr sz="1600" b="1">
                <a:solidFill>
                  <a:srgbClr val="FFFFFF"/>
                </a:solidFill>
                <a:latin typeface="Calibri"/>
              </a:rPr>
              <a:t>BLOCK</a:t>
            </a:r>
          </a:p>
        </p:txBody>
      </p:sp>
      <p:sp>
        <p:nvSpPr>
          <p:cNvPr id="19" name="TextBox 18"/>
          <p:cNvSpPr txBox="1"/>
          <p:nvPr/>
        </p:nvSpPr>
        <p:spPr>
          <a:xfrm>
            <a:off x="4389120" y="3703320"/>
            <a:ext cx="3429000" cy="1371600"/>
          </a:xfrm>
          <a:prstGeom prst="rect">
            <a:avLst/>
          </a:prstGeom>
          <a:noFill/>
        </p:spPr>
        <p:txBody>
          <a:bodyPr wrap="square">
            <a:spAutoFit/>
          </a:bodyPr>
          <a:lstStyle/>
          <a:p>
            <a:pPr algn="l"/>
            <a:r>
              <a:rPr sz="1400" b="0">
                <a:solidFill>
                  <a:srgbClr val="1E293B"/>
                </a:solidFill>
                <a:latin typeface="Calibri"/>
              </a:rPr>
              <a:t>Out of scope: employee copilot must not make a customer credit decision.</a:t>
            </a:r>
          </a:p>
        </p:txBody>
      </p:sp>
      <p:sp>
        <p:nvSpPr>
          <p:cNvPr id="20" name="Rounded Rectangle 19"/>
          <p:cNvSpPr/>
          <p:nvPr/>
        </p:nvSpPr>
        <p:spPr>
          <a:xfrm>
            <a:off x="8138160" y="1920240"/>
            <a:ext cx="3703320" cy="3383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057400"/>
            <a:ext cx="3429000" cy="365760"/>
          </a:xfrm>
          <a:prstGeom prst="rect">
            <a:avLst/>
          </a:prstGeom>
          <a:noFill/>
        </p:spPr>
        <p:txBody>
          <a:bodyPr wrap="square">
            <a:spAutoFit/>
          </a:bodyPr>
          <a:lstStyle/>
          <a:p>
            <a:pPr algn="l"/>
            <a:r>
              <a:rPr sz="1600" b="1">
                <a:solidFill>
                  <a:srgbClr val="1E2F6E"/>
                </a:solidFill>
                <a:latin typeface="Calibri"/>
              </a:rPr>
              <a:t>Decision Support</a:t>
            </a:r>
          </a:p>
        </p:txBody>
      </p:sp>
      <p:sp>
        <p:nvSpPr>
          <p:cNvPr id="22" name="TextBox 21"/>
          <p:cNvSpPr txBox="1"/>
          <p:nvPr/>
        </p:nvSpPr>
        <p:spPr>
          <a:xfrm>
            <a:off x="8275320" y="2468880"/>
            <a:ext cx="3429000" cy="320040"/>
          </a:xfrm>
          <a:prstGeom prst="rect">
            <a:avLst/>
          </a:prstGeom>
          <a:noFill/>
        </p:spPr>
        <p:txBody>
          <a:bodyPr wrap="square">
            <a:spAutoFit/>
          </a:bodyPr>
          <a:lstStyle/>
          <a:p>
            <a:pPr algn="l"/>
            <a:r>
              <a:rPr sz="1200" b="0">
                <a:solidFill>
                  <a:srgbClr val="475569"/>
                </a:solidFill>
                <a:latin typeface="Calibri"/>
              </a:rPr>
              <a:t>Profile: VERY STRICT</a:t>
            </a:r>
          </a:p>
        </p:txBody>
      </p:sp>
      <p:sp>
        <p:nvSpPr>
          <p:cNvPr id="23" name="Rounded Rectangle 22"/>
          <p:cNvSpPr/>
          <p:nvPr/>
        </p:nvSpPr>
        <p:spPr>
          <a:xfrm>
            <a:off x="8412480" y="2926080"/>
            <a:ext cx="3154680" cy="548640"/>
          </a:xfrm>
          <a:prstGeom prst="roundRect">
            <a:avLst>
              <a:gd name="adj" fmla="val 8000"/>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017520"/>
            <a:ext cx="3154680" cy="411480"/>
          </a:xfrm>
          <a:prstGeom prst="rect">
            <a:avLst/>
          </a:prstGeom>
          <a:noFill/>
        </p:spPr>
        <p:txBody>
          <a:bodyPr wrap="square">
            <a:spAutoFit/>
          </a:bodyPr>
          <a:lstStyle/>
          <a:p>
            <a:pPr algn="ctr"/>
            <a:r>
              <a:rPr sz="1600" b="1">
                <a:solidFill>
                  <a:srgbClr val="FFFFFF"/>
                </a:solidFill>
                <a:latin typeface="Calibri"/>
              </a:rPr>
              <a:t>HUMAN REVIEW</a:t>
            </a:r>
          </a:p>
        </p:txBody>
      </p:sp>
      <p:sp>
        <p:nvSpPr>
          <p:cNvPr id="25" name="TextBox 24"/>
          <p:cNvSpPr txBox="1"/>
          <p:nvPr/>
        </p:nvSpPr>
        <p:spPr>
          <a:xfrm>
            <a:off x="8275320" y="3703320"/>
            <a:ext cx="3429000" cy="1371600"/>
          </a:xfrm>
          <a:prstGeom prst="rect">
            <a:avLst/>
          </a:prstGeom>
          <a:noFill/>
        </p:spPr>
        <p:txBody>
          <a:bodyPr wrap="square">
            <a:spAutoFit/>
          </a:bodyPr>
          <a:lstStyle/>
          <a:p>
            <a:pPr algn="l"/>
            <a:r>
              <a:rPr sz="1400" b="0">
                <a:solidFill>
                  <a:srgbClr val="1E293B"/>
                </a:solidFill>
                <a:latin typeface="Calibri"/>
              </a:rPr>
              <a:t>Right application, but incomplete evidence requires a human.</a:t>
            </a:r>
          </a:p>
        </p:txBody>
      </p:sp>
      <p:sp>
        <p:nvSpPr>
          <p:cNvPr id="26" name="Rectangle 25"/>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8" name="TextBox 27"/>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4. Target users</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Sold to the enterprise, used by four roles</a:t>
            </a:r>
          </a:p>
        </p:txBody>
      </p:sp>
      <p:sp>
        <p:nvSpPr>
          <p:cNvPr id="7" name="Rounded Rectangle 6"/>
          <p:cNvSpPr/>
          <p:nvPr/>
        </p:nvSpPr>
        <p:spPr>
          <a:xfrm>
            <a:off x="365760" y="1188720"/>
            <a:ext cx="5669280" cy="18288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73152" cy="18288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98448"/>
            <a:ext cx="5376672" cy="292608"/>
          </a:xfrm>
          <a:prstGeom prst="rect">
            <a:avLst/>
          </a:prstGeom>
          <a:noFill/>
        </p:spPr>
        <p:txBody>
          <a:bodyPr wrap="square">
            <a:spAutoFit/>
          </a:bodyPr>
          <a:lstStyle/>
          <a:p>
            <a:pPr algn="l"/>
            <a:r>
              <a:rPr sz="1300" b="1">
                <a:solidFill>
                  <a:srgbClr val="1E2F6E"/>
                </a:solidFill>
                <a:latin typeface="Calibri"/>
              </a:rPr>
              <a:t>AI Governance Manager  ·  Dashboard, Policies, Analytics, Audit Logs</a:t>
            </a:r>
          </a:p>
        </p:txBody>
      </p:sp>
      <p:sp>
        <p:nvSpPr>
          <p:cNvPr id="10" name="TextBox 9"/>
          <p:cNvSpPr txBox="1"/>
          <p:nvPr/>
        </p:nvSpPr>
        <p:spPr>
          <a:xfrm>
            <a:off x="566928" y="1591056"/>
            <a:ext cx="5340096" cy="1353312"/>
          </a:xfrm>
          <a:prstGeom prst="rect">
            <a:avLst/>
          </a:prstGeom>
          <a:noFill/>
        </p:spPr>
        <p:txBody>
          <a:bodyPr wrap="square">
            <a:spAutoFit/>
          </a:bodyPr>
          <a:lstStyle/>
          <a:p>
            <a:r>
              <a:rPr sz="1200" b="0">
                <a:solidFill>
                  <a:srgbClr val="475569"/>
                </a:solidFill>
                <a:latin typeface="Calibri"/>
              </a:rPr>
              <a:t>One place to set policy, prove oversight and produce audit evidence.</a:t>
            </a:r>
          </a:p>
        </p:txBody>
      </p:sp>
      <p:sp>
        <p:nvSpPr>
          <p:cNvPr id="11" name="Rounded Rectangle 10"/>
          <p:cNvSpPr/>
          <p:nvPr/>
        </p:nvSpPr>
        <p:spPr>
          <a:xfrm>
            <a:off x="6217920" y="1188720"/>
            <a:ext cx="5669280" cy="18288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188720"/>
            <a:ext cx="73152" cy="18288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298448"/>
            <a:ext cx="5376672" cy="292608"/>
          </a:xfrm>
          <a:prstGeom prst="rect">
            <a:avLst/>
          </a:prstGeom>
          <a:noFill/>
        </p:spPr>
        <p:txBody>
          <a:bodyPr wrap="square">
            <a:spAutoFit/>
          </a:bodyPr>
          <a:lstStyle/>
          <a:p>
            <a:pPr algn="l"/>
            <a:r>
              <a:rPr sz="1300" b="1">
                <a:solidFill>
                  <a:srgbClr val="1E2F6E"/>
                </a:solidFill>
                <a:latin typeface="Calibri"/>
              </a:rPr>
              <a:t>Application Owner  ·  Analyzer, monitoring, Policy Simulator</a:t>
            </a:r>
          </a:p>
        </p:txBody>
      </p:sp>
      <p:sp>
        <p:nvSpPr>
          <p:cNvPr id="14" name="TextBox 13"/>
          <p:cNvSpPr txBox="1"/>
          <p:nvPr/>
        </p:nvSpPr>
        <p:spPr>
          <a:xfrm>
            <a:off x="6419088" y="1591056"/>
            <a:ext cx="5340096" cy="1353312"/>
          </a:xfrm>
          <a:prstGeom prst="rect">
            <a:avLst/>
          </a:prstGeom>
          <a:noFill/>
        </p:spPr>
        <p:txBody>
          <a:bodyPr wrap="square">
            <a:spAutoFit/>
          </a:bodyPr>
          <a:lstStyle/>
          <a:p>
            <a:r>
              <a:rPr sz="1200" b="0">
                <a:solidFill>
                  <a:srgbClr val="475569"/>
                </a:solidFill>
                <a:latin typeface="Calibri"/>
              </a:rPr>
              <a:t>Understand blocks, tune the risk profile, watch false positives and latency.</a:t>
            </a:r>
          </a:p>
        </p:txBody>
      </p:sp>
      <p:sp>
        <p:nvSpPr>
          <p:cNvPr id="15" name="Rounded Rectangle 14"/>
          <p:cNvSpPr/>
          <p:nvPr/>
        </p:nvSpPr>
        <p:spPr>
          <a:xfrm>
            <a:off x="365760" y="3154680"/>
            <a:ext cx="5669280" cy="18288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154680"/>
            <a:ext cx="73152" cy="18288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64408"/>
            <a:ext cx="5376672" cy="292608"/>
          </a:xfrm>
          <a:prstGeom prst="rect">
            <a:avLst/>
          </a:prstGeom>
          <a:noFill/>
        </p:spPr>
        <p:txBody>
          <a:bodyPr wrap="square">
            <a:spAutoFit/>
          </a:bodyPr>
          <a:lstStyle/>
          <a:p>
            <a:pPr algn="l"/>
            <a:r>
              <a:rPr sz="1300" b="1">
                <a:solidFill>
                  <a:srgbClr val="1E2F6E"/>
                </a:solidFill>
                <a:latin typeface="Calibri"/>
              </a:rPr>
              <a:t>Human Reviewer  ·  Review Queue, interaction detail</a:t>
            </a:r>
          </a:p>
        </p:txBody>
      </p:sp>
      <p:sp>
        <p:nvSpPr>
          <p:cNvPr id="18" name="TextBox 17"/>
          <p:cNvSpPr txBox="1"/>
          <p:nvPr/>
        </p:nvSpPr>
        <p:spPr>
          <a:xfrm>
            <a:off x="566928" y="3557016"/>
            <a:ext cx="5340096" cy="1353312"/>
          </a:xfrm>
          <a:prstGeom prst="rect">
            <a:avLst/>
          </a:prstGeom>
          <a:noFill/>
        </p:spPr>
        <p:txBody>
          <a:bodyPr wrap="square">
            <a:spAutoFit/>
          </a:bodyPr>
          <a:lstStyle/>
          <a:p>
            <a:r>
              <a:rPr sz="1200" b="0">
                <a:solidFill>
                  <a:srgbClr val="475569"/>
                </a:solidFill>
                <a:latin typeface="Calibri"/>
              </a:rPr>
              <a:t>Approve, edit or reject only the uncertain or high-impact cases.</a:t>
            </a:r>
          </a:p>
        </p:txBody>
      </p:sp>
      <p:sp>
        <p:nvSpPr>
          <p:cNvPr id="19" name="Rounded Rectangle 18"/>
          <p:cNvSpPr/>
          <p:nvPr/>
        </p:nvSpPr>
        <p:spPr>
          <a:xfrm>
            <a:off x="6217920" y="3154680"/>
            <a:ext cx="5669280" cy="18288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154680"/>
            <a:ext cx="73152" cy="18288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3264408"/>
            <a:ext cx="5376672" cy="292608"/>
          </a:xfrm>
          <a:prstGeom prst="rect">
            <a:avLst/>
          </a:prstGeom>
          <a:noFill/>
        </p:spPr>
        <p:txBody>
          <a:bodyPr wrap="square">
            <a:spAutoFit/>
          </a:bodyPr>
          <a:lstStyle/>
          <a:p>
            <a:pPr algn="l"/>
            <a:r>
              <a:rPr sz="1300" b="1">
                <a:solidFill>
                  <a:srgbClr val="1E2F6E"/>
                </a:solidFill>
                <a:latin typeface="Calibri"/>
              </a:rPr>
              <a:t>Enterprise end user  ·  The original AI app</a:t>
            </a:r>
          </a:p>
        </p:txBody>
      </p:sp>
      <p:sp>
        <p:nvSpPr>
          <p:cNvPr id="22" name="TextBox 21"/>
          <p:cNvSpPr txBox="1"/>
          <p:nvPr/>
        </p:nvSpPr>
        <p:spPr>
          <a:xfrm>
            <a:off x="6419088" y="3557016"/>
            <a:ext cx="5340096" cy="1353312"/>
          </a:xfrm>
          <a:prstGeom prst="rect">
            <a:avLst/>
          </a:prstGeom>
          <a:noFill/>
        </p:spPr>
        <p:txBody>
          <a:bodyPr wrap="square">
            <a:spAutoFit/>
          </a:bodyPr>
          <a:lstStyle/>
          <a:p>
            <a:r>
              <a:rPr sz="1200" b="0">
                <a:solidFill>
                  <a:srgbClr val="475569"/>
                </a:solidFill>
                <a:latin typeface="Calibri"/>
              </a:rPr>
              <a:t>Faster trustworthy answers. ControlPlane is invisible unless a response is held or blocked.</a:t>
            </a:r>
          </a:p>
        </p:txBody>
      </p:sp>
      <p:sp>
        <p:nvSpPr>
          <p:cNvPr id="23" name="TextBox 22"/>
          <p:cNvSpPr txBox="1"/>
          <p:nvPr/>
        </p:nvSpPr>
        <p:spPr>
          <a:xfrm>
            <a:off x="457200" y="5212080"/>
            <a:ext cx="11247120" cy="1005840"/>
          </a:xfrm>
          <a:prstGeom prst="rect">
            <a:avLst/>
          </a:prstGeom>
          <a:noFill/>
        </p:spPr>
        <p:txBody>
          <a:bodyPr wrap="square">
            <a:spAutoFit/>
          </a:bodyPr>
          <a:lstStyle/>
          <a:p>
            <a:pPr algn="l"/>
            <a:r>
              <a:rPr sz="1400" b="0">
                <a:solidFill>
                  <a:srgbClr val="475569"/>
                </a:solidFill>
                <a:latin typeface="Calibri"/>
              </a:rPr>
              <a:t>Buying committee: CRO, CISO, Head of AI / CoE, DPO, and line-of-business owners in support, HR, finance or credit. Strongest where AI is already in production and the organisation is regulated or brand-sensitive.</a:t>
            </a:r>
          </a:p>
        </p:txBody>
      </p:sp>
      <p:sp>
        <p:nvSpPr>
          <p:cNvPr id="24" name="Rectangle 23"/>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6" name="TextBox 25"/>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4.1 Segments and insertion model</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Do not replace the model. Change the integration point.</a:t>
            </a:r>
          </a:p>
        </p:txBody>
      </p:sp>
      <p:sp>
        <p:nvSpPr>
          <p:cNvPr id="7" name="Rounded Rectangle 6"/>
          <p:cNvSpPr/>
          <p:nvPr/>
        </p:nvSpPr>
        <p:spPr>
          <a:xfrm>
            <a:off x="365760" y="1188720"/>
            <a:ext cx="5669280" cy="31089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73152" cy="31089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98448"/>
            <a:ext cx="5376672" cy="292608"/>
          </a:xfrm>
          <a:prstGeom prst="rect">
            <a:avLst/>
          </a:prstGeom>
          <a:noFill/>
        </p:spPr>
        <p:txBody>
          <a:bodyPr wrap="square">
            <a:spAutoFit/>
          </a:bodyPr>
          <a:lstStyle/>
          <a:p>
            <a:pPr algn="l"/>
            <a:r>
              <a:rPr sz="1300" b="1">
                <a:solidFill>
                  <a:srgbClr val="1E2F6E"/>
                </a:solidFill>
                <a:latin typeface="Calibri"/>
              </a:rPr>
              <a:t>Near-term segments</a:t>
            </a:r>
          </a:p>
        </p:txBody>
      </p:sp>
      <p:sp>
        <p:nvSpPr>
          <p:cNvPr id="10" name="TextBox 9"/>
          <p:cNvSpPr txBox="1"/>
          <p:nvPr/>
        </p:nvSpPr>
        <p:spPr>
          <a:xfrm>
            <a:off x="566928" y="1591056"/>
            <a:ext cx="5340096" cy="2633472"/>
          </a:xfrm>
          <a:prstGeom prst="rect">
            <a:avLst/>
          </a:prstGeom>
          <a:noFill/>
        </p:spPr>
        <p:txBody>
          <a:bodyPr wrap="square">
            <a:spAutoFit/>
          </a:bodyPr>
          <a:lstStyle/>
          <a:p>
            <a:r>
              <a:rPr sz="1200" b="0">
                <a:solidFill>
                  <a:srgbClr val="475569"/>
                </a:solidFill>
                <a:latin typeface="Calibri"/>
              </a:rPr>
              <a:t>Mid-to-large enterprises already using multiple LLM apps. Financial services, insurance, telecom, retail, IT services and shared-services operations. Organisations under GDPR-like, DPDP-like or sector AI-risk pressure.</a:t>
            </a:r>
          </a:p>
        </p:txBody>
      </p:sp>
      <p:sp>
        <p:nvSpPr>
          <p:cNvPr id="11" name="Rounded Rectangle 10"/>
          <p:cNvSpPr/>
          <p:nvPr/>
        </p:nvSpPr>
        <p:spPr>
          <a:xfrm>
            <a:off x="6172200" y="1188720"/>
            <a:ext cx="5623560" cy="31089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188720"/>
            <a:ext cx="73152" cy="31089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298448"/>
            <a:ext cx="5330952" cy="292608"/>
          </a:xfrm>
          <a:prstGeom prst="rect">
            <a:avLst/>
          </a:prstGeom>
          <a:noFill/>
        </p:spPr>
        <p:txBody>
          <a:bodyPr wrap="square">
            <a:spAutoFit/>
          </a:bodyPr>
          <a:lstStyle/>
          <a:p>
            <a:pPr algn="l"/>
            <a:r>
              <a:rPr sz="1300" b="1">
                <a:solidFill>
                  <a:srgbClr val="1E2F6E"/>
                </a:solidFill>
                <a:latin typeface="Calibri"/>
              </a:rPr>
              <a:t>Later segments</a:t>
            </a:r>
          </a:p>
        </p:txBody>
      </p:sp>
      <p:sp>
        <p:nvSpPr>
          <p:cNvPr id="14" name="TextBox 13"/>
          <p:cNvSpPr txBox="1"/>
          <p:nvPr/>
        </p:nvSpPr>
        <p:spPr>
          <a:xfrm>
            <a:off x="6373368" y="1591056"/>
            <a:ext cx="5294376" cy="2633472"/>
          </a:xfrm>
          <a:prstGeom prst="rect">
            <a:avLst/>
          </a:prstGeom>
          <a:noFill/>
        </p:spPr>
        <p:txBody>
          <a:bodyPr wrap="square">
            <a:spAutoFit/>
          </a:bodyPr>
          <a:lstStyle/>
          <a:p>
            <a:r>
              <a:rPr sz="1200" b="0">
                <a:solidFill>
                  <a:srgbClr val="475569"/>
                </a:solidFill>
                <a:latin typeface="Calibri"/>
              </a:rPr>
              <a:t>Public sector and healthcare after stronger IAM and data-residency. Multi-model and agentic estates that need tool-call governance, not only text checking. India / EU / US profiles in the prototype are configuration, not legal engines.</a:t>
            </a:r>
          </a:p>
        </p:txBody>
      </p:sp>
      <p:sp>
        <p:nvSpPr>
          <p:cNvPr id="15" name="Rounded Rectangle 14"/>
          <p:cNvSpPr/>
          <p:nvPr/>
        </p:nvSpPr>
        <p:spPr>
          <a:xfrm>
            <a:off x="365760" y="4480560"/>
            <a:ext cx="11430000" cy="1691640"/>
          </a:xfrm>
          <a:prstGeom prst="roundRect">
            <a:avLst>
              <a:gd name="adj" fmla="val 8000"/>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663440"/>
            <a:ext cx="11064240" cy="365760"/>
          </a:xfrm>
          <a:prstGeom prst="rect">
            <a:avLst/>
          </a:prstGeom>
          <a:noFill/>
        </p:spPr>
        <p:txBody>
          <a:bodyPr wrap="square">
            <a:spAutoFit/>
          </a:bodyPr>
          <a:lstStyle/>
          <a:p>
            <a:pPr algn="l"/>
            <a:r>
              <a:rPr sz="1600" b="1">
                <a:solidFill>
                  <a:srgbClr val="1E2F6E"/>
                </a:solidFill>
                <a:latin typeface="Calibri"/>
              </a:rPr>
              <a:t>Insertion model</a:t>
            </a:r>
          </a:p>
        </p:txBody>
      </p:sp>
      <p:sp>
        <p:nvSpPr>
          <p:cNvPr id="17" name="TextBox 16"/>
          <p:cNvSpPr txBox="1"/>
          <p:nvPr/>
        </p:nvSpPr>
        <p:spPr>
          <a:xfrm>
            <a:off x="594360" y="5074920"/>
            <a:ext cx="11064240" cy="822960"/>
          </a:xfrm>
          <a:prstGeom prst="rect">
            <a:avLst/>
          </a:prstGeom>
          <a:noFill/>
        </p:spPr>
        <p:txBody>
          <a:bodyPr wrap="square">
            <a:spAutoFit/>
          </a:bodyPr>
          <a:lstStyle/>
          <a:p>
            <a:pPr algn="l"/>
            <a:r>
              <a:rPr sz="1400" b="0">
                <a:solidFill>
                  <a:srgbClr val="1E293B"/>
                </a:solidFill>
                <a:latin typeface="Calibri"/>
              </a:rPr>
              <a:t>Existing AI app  →  ControlPlane API  →  Foundation model API  →  user-safe output. The client keeps their model vendor. They add a control plane in front of it. Commercial shape: platform subscription by volume and number of apps, plus policy/integration services, plus optional managed review operations.</a:t>
            </a:r>
          </a:p>
        </p:txBody>
      </p:sp>
      <p:sp>
        <p:nvSpPr>
          <p:cNvPr id="18" name="Rectangle 17"/>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20" name="TextBox 19"/>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5. Business case and impact</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Value is risk-adjusted, not “chatbot conversion +X%”</a:t>
            </a:r>
          </a:p>
        </p:txBody>
      </p:sp>
      <p:sp>
        <p:nvSpPr>
          <p:cNvPr id="7" name="Rounded Rectangle 6"/>
          <p:cNvSpPr/>
          <p:nvPr/>
        </p:nvSpPr>
        <p:spPr>
          <a:xfrm>
            <a:off x="320040" y="1188720"/>
            <a:ext cx="2240280" cy="28803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88720"/>
            <a:ext cx="73152" cy="28803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298448"/>
            <a:ext cx="1947672" cy="292608"/>
          </a:xfrm>
          <a:prstGeom prst="rect">
            <a:avLst/>
          </a:prstGeom>
          <a:noFill/>
        </p:spPr>
        <p:txBody>
          <a:bodyPr wrap="square">
            <a:spAutoFit/>
          </a:bodyPr>
          <a:lstStyle/>
          <a:p>
            <a:pPr algn="l"/>
            <a:r>
              <a:rPr sz="1300" b="1">
                <a:solidFill>
                  <a:srgbClr val="1E2F6E"/>
                </a:solidFill>
                <a:latin typeface="Calibri"/>
              </a:rPr>
              <a:t>Loss avoidance</a:t>
            </a:r>
          </a:p>
        </p:txBody>
      </p:sp>
      <p:sp>
        <p:nvSpPr>
          <p:cNvPr id="10" name="TextBox 9"/>
          <p:cNvSpPr txBox="1"/>
          <p:nvPr/>
        </p:nvSpPr>
        <p:spPr>
          <a:xfrm>
            <a:off x="521208" y="1591056"/>
            <a:ext cx="1911096" cy="2404872"/>
          </a:xfrm>
          <a:prstGeom prst="rect">
            <a:avLst/>
          </a:prstGeom>
          <a:noFill/>
        </p:spPr>
        <p:txBody>
          <a:bodyPr wrap="square">
            <a:spAutoFit/>
          </a:bodyPr>
          <a:lstStyle/>
          <a:p>
            <a:r>
              <a:rPr sz="1200" b="0">
                <a:solidFill>
                  <a:srgbClr val="475569"/>
                </a:solidFill>
                <a:latin typeface="Calibri"/>
              </a:rPr>
              <a:t>Fewer privacy leaks, fewer ungrounded high-impact recommendations, fewer biased decision traces.</a:t>
            </a:r>
          </a:p>
        </p:txBody>
      </p:sp>
      <p:sp>
        <p:nvSpPr>
          <p:cNvPr id="11" name="Rounded Rectangle 10"/>
          <p:cNvSpPr/>
          <p:nvPr/>
        </p:nvSpPr>
        <p:spPr>
          <a:xfrm>
            <a:off x="2651760" y="1188720"/>
            <a:ext cx="2240280" cy="28803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51760" y="1188720"/>
            <a:ext cx="73152" cy="28803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1298448"/>
            <a:ext cx="1947672" cy="292608"/>
          </a:xfrm>
          <a:prstGeom prst="rect">
            <a:avLst/>
          </a:prstGeom>
          <a:noFill/>
        </p:spPr>
        <p:txBody>
          <a:bodyPr wrap="square">
            <a:spAutoFit/>
          </a:bodyPr>
          <a:lstStyle/>
          <a:p>
            <a:pPr algn="l"/>
            <a:r>
              <a:rPr sz="1300" b="1">
                <a:solidFill>
                  <a:srgbClr val="1E2F6E"/>
                </a:solidFill>
                <a:latin typeface="Calibri"/>
              </a:rPr>
              <a:t>Operating efficiency</a:t>
            </a:r>
          </a:p>
        </p:txBody>
      </p:sp>
      <p:sp>
        <p:nvSpPr>
          <p:cNvPr id="14" name="TextBox 13"/>
          <p:cNvSpPr txBox="1"/>
          <p:nvPr/>
        </p:nvSpPr>
        <p:spPr>
          <a:xfrm>
            <a:off x="2852928" y="1591056"/>
            <a:ext cx="1911096" cy="2404872"/>
          </a:xfrm>
          <a:prstGeom prst="rect">
            <a:avLst/>
          </a:prstGeom>
          <a:noFill/>
        </p:spPr>
        <p:txBody>
          <a:bodyPr wrap="square">
            <a:spAutoFit/>
          </a:bodyPr>
          <a:lstStyle/>
          <a:p>
            <a:r>
              <a:rPr sz="1200" b="0">
                <a:solidFill>
                  <a:srgbClr val="475569"/>
                </a:solidFill>
                <a:latin typeface="Calibri"/>
              </a:rPr>
              <a:t>Humans review only flagged cases, not every AI interaction.</a:t>
            </a:r>
          </a:p>
        </p:txBody>
      </p:sp>
      <p:sp>
        <p:nvSpPr>
          <p:cNvPr id="15" name="Rounded Rectangle 14"/>
          <p:cNvSpPr/>
          <p:nvPr/>
        </p:nvSpPr>
        <p:spPr>
          <a:xfrm>
            <a:off x="4983479" y="1188720"/>
            <a:ext cx="2240280" cy="28803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83479" y="1188720"/>
            <a:ext cx="73152" cy="28803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7" y="1298448"/>
            <a:ext cx="1947672" cy="292608"/>
          </a:xfrm>
          <a:prstGeom prst="rect">
            <a:avLst/>
          </a:prstGeom>
          <a:noFill/>
        </p:spPr>
        <p:txBody>
          <a:bodyPr wrap="square">
            <a:spAutoFit/>
          </a:bodyPr>
          <a:lstStyle/>
          <a:p>
            <a:pPr algn="l"/>
            <a:r>
              <a:rPr sz="1300" b="1">
                <a:solidFill>
                  <a:srgbClr val="1E2F6E"/>
                </a:solidFill>
                <a:latin typeface="Calibri"/>
              </a:rPr>
              <a:t>Trust and adoption</a:t>
            </a:r>
          </a:p>
        </p:txBody>
      </p:sp>
      <p:sp>
        <p:nvSpPr>
          <p:cNvPr id="18" name="TextBox 17"/>
          <p:cNvSpPr txBox="1"/>
          <p:nvPr/>
        </p:nvSpPr>
        <p:spPr>
          <a:xfrm>
            <a:off x="5184647" y="1591056"/>
            <a:ext cx="1911096" cy="2404872"/>
          </a:xfrm>
          <a:prstGeom prst="rect">
            <a:avLst/>
          </a:prstGeom>
          <a:noFill/>
        </p:spPr>
        <p:txBody>
          <a:bodyPr wrap="square">
            <a:spAutoFit/>
          </a:bodyPr>
          <a:lstStyle/>
          <a:p>
            <a:r>
              <a:rPr sz="1200" b="0">
                <a:solidFill>
                  <a:srgbClr val="475569"/>
                </a:solidFill>
                <a:latin typeface="Calibri"/>
              </a:rPr>
              <a:t>Business teams scale AI faster when a visible control layer exists.</a:t>
            </a:r>
          </a:p>
        </p:txBody>
      </p:sp>
      <p:sp>
        <p:nvSpPr>
          <p:cNvPr id="19" name="Rounded Rectangle 18"/>
          <p:cNvSpPr/>
          <p:nvPr/>
        </p:nvSpPr>
        <p:spPr>
          <a:xfrm>
            <a:off x="7315199" y="1188720"/>
            <a:ext cx="2240280" cy="28803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199" y="1188720"/>
            <a:ext cx="73152" cy="28803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6367" y="1298448"/>
            <a:ext cx="1947672" cy="292608"/>
          </a:xfrm>
          <a:prstGeom prst="rect">
            <a:avLst/>
          </a:prstGeom>
          <a:noFill/>
        </p:spPr>
        <p:txBody>
          <a:bodyPr wrap="square">
            <a:spAutoFit/>
          </a:bodyPr>
          <a:lstStyle/>
          <a:p>
            <a:pPr algn="l"/>
            <a:r>
              <a:rPr sz="1300" b="1">
                <a:solidFill>
                  <a:srgbClr val="1E2F6E"/>
                </a:solidFill>
                <a:latin typeface="Calibri"/>
              </a:rPr>
              <a:t>Audit readiness</a:t>
            </a:r>
          </a:p>
        </p:txBody>
      </p:sp>
      <p:sp>
        <p:nvSpPr>
          <p:cNvPr id="22" name="TextBox 21"/>
          <p:cNvSpPr txBox="1"/>
          <p:nvPr/>
        </p:nvSpPr>
        <p:spPr>
          <a:xfrm>
            <a:off x="7516367" y="1591056"/>
            <a:ext cx="1911096" cy="2404872"/>
          </a:xfrm>
          <a:prstGeom prst="rect">
            <a:avLst/>
          </a:prstGeom>
          <a:noFill/>
        </p:spPr>
        <p:txBody>
          <a:bodyPr wrap="square">
            <a:spAutoFit/>
          </a:bodyPr>
          <a:lstStyle/>
          <a:p>
            <a:r>
              <a:rPr sz="1200" b="0">
                <a:solidFill>
                  <a:srgbClr val="475569"/>
                </a:solidFill>
                <a:latin typeface="Calibri"/>
              </a:rPr>
              <a:t>Every decision has a reason, a policy version and a log.</a:t>
            </a:r>
          </a:p>
        </p:txBody>
      </p:sp>
      <p:sp>
        <p:nvSpPr>
          <p:cNvPr id="23" name="Rounded Rectangle 22"/>
          <p:cNvSpPr/>
          <p:nvPr/>
        </p:nvSpPr>
        <p:spPr>
          <a:xfrm>
            <a:off x="9646919" y="1188720"/>
            <a:ext cx="2240280" cy="288036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46919" y="1188720"/>
            <a:ext cx="73152" cy="288036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48087" y="1298448"/>
            <a:ext cx="1947672" cy="292608"/>
          </a:xfrm>
          <a:prstGeom prst="rect">
            <a:avLst/>
          </a:prstGeom>
          <a:noFill/>
        </p:spPr>
        <p:txBody>
          <a:bodyPr wrap="square">
            <a:spAutoFit/>
          </a:bodyPr>
          <a:lstStyle/>
          <a:p>
            <a:pPr algn="l"/>
            <a:r>
              <a:rPr sz="1300" b="1">
                <a:solidFill>
                  <a:srgbClr val="1E2F6E"/>
                </a:solidFill>
                <a:latin typeface="Calibri"/>
              </a:rPr>
              <a:t>Reuse</a:t>
            </a:r>
          </a:p>
        </p:txBody>
      </p:sp>
      <p:sp>
        <p:nvSpPr>
          <p:cNvPr id="26" name="TextBox 25"/>
          <p:cNvSpPr txBox="1"/>
          <p:nvPr/>
        </p:nvSpPr>
        <p:spPr>
          <a:xfrm>
            <a:off x="9848087" y="1591056"/>
            <a:ext cx="1911096" cy="2404872"/>
          </a:xfrm>
          <a:prstGeom prst="rect">
            <a:avLst/>
          </a:prstGeom>
          <a:noFill/>
        </p:spPr>
        <p:txBody>
          <a:bodyPr wrap="square">
            <a:spAutoFit/>
          </a:bodyPr>
          <a:lstStyle/>
          <a:p>
            <a:r>
              <a:rPr sz="1200" b="0">
                <a:solidFill>
                  <a:srgbClr val="475569"/>
                </a:solidFill>
                <a:latin typeface="Calibri"/>
              </a:rPr>
              <a:t>One control plane governs many applications instead of a checker per bot.</a:t>
            </a:r>
          </a:p>
        </p:txBody>
      </p:sp>
      <p:sp>
        <p:nvSpPr>
          <p:cNvPr id="27" name="TextBox 26"/>
          <p:cNvSpPr txBox="1"/>
          <p:nvPr/>
        </p:nvSpPr>
        <p:spPr>
          <a:xfrm>
            <a:off x="457200" y="4251960"/>
            <a:ext cx="11247120" cy="365760"/>
          </a:xfrm>
          <a:prstGeom prst="rect">
            <a:avLst/>
          </a:prstGeom>
          <a:noFill/>
        </p:spPr>
        <p:txBody>
          <a:bodyPr wrap="square">
            <a:spAutoFit/>
          </a:bodyPr>
          <a:lstStyle/>
          <a:p>
            <a:pPr algn="l"/>
            <a:r>
              <a:rPr sz="1300" b="0">
                <a:solidFill>
                  <a:srgbClr val="475569"/>
                </a:solidFill>
                <a:latin typeface="Calibri"/>
              </a:rPr>
              <a:t>Illustrative mix on 32,000 interactions / week (planning assumption, not a measured customer rate):</a:t>
            </a:r>
          </a:p>
        </p:txBody>
      </p:sp>
      <p:sp>
        <p:nvSpPr>
          <p:cNvPr id="28" name="Rounded Rectangle 27"/>
          <p:cNvSpPr/>
          <p:nvPr/>
        </p:nvSpPr>
        <p:spPr>
          <a:xfrm>
            <a:off x="365760" y="4709160"/>
            <a:ext cx="27889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4846320"/>
            <a:ext cx="2606040" cy="411480"/>
          </a:xfrm>
          <a:prstGeom prst="rect">
            <a:avLst/>
          </a:prstGeom>
          <a:noFill/>
        </p:spPr>
        <p:txBody>
          <a:bodyPr wrap="square">
            <a:spAutoFit/>
          </a:bodyPr>
          <a:lstStyle/>
          <a:p>
            <a:pPr algn="l"/>
            <a:r>
              <a:rPr sz="1600" b="1">
                <a:solidFill>
                  <a:srgbClr val="047857"/>
                </a:solidFill>
                <a:latin typeface="Calibri"/>
              </a:rPr>
              <a:t>ALLOW 78%</a:t>
            </a:r>
          </a:p>
        </p:txBody>
      </p:sp>
      <p:sp>
        <p:nvSpPr>
          <p:cNvPr id="30" name="TextBox 29"/>
          <p:cNvSpPr txBox="1"/>
          <p:nvPr/>
        </p:nvSpPr>
        <p:spPr>
          <a:xfrm>
            <a:off x="457200" y="5303520"/>
            <a:ext cx="2606040" cy="548640"/>
          </a:xfrm>
          <a:prstGeom prst="rect">
            <a:avLst/>
          </a:prstGeom>
          <a:noFill/>
        </p:spPr>
        <p:txBody>
          <a:bodyPr wrap="square">
            <a:spAutoFit/>
          </a:bodyPr>
          <a:lstStyle/>
          <a:p>
            <a:pPr algn="l"/>
            <a:r>
              <a:rPr sz="1300" b="0">
                <a:solidFill>
                  <a:srgbClr val="475569"/>
                </a:solidFill>
                <a:latin typeface="Calibri"/>
              </a:rPr>
              <a:t>Auto-release</a:t>
            </a:r>
          </a:p>
        </p:txBody>
      </p:sp>
      <p:sp>
        <p:nvSpPr>
          <p:cNvPr id="31" name="Rounded Rectangle 30"/>
          <p:cNvSpPr/>
          <p:nvPr/>
        </p:nvSpPr>
        <p:spPr>
          <a:xfrm>
            <a:off x="3291840" y="4709160"/>
            <a:ext cx="27889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83280" y="4846320"/>
            <a:ext cx="2606040" cy="411480"/>
          </a:xfrm>
          <a:prstGeom prst="rect">
            <a:avLst/>
          </a:prstGeom>
          <a:noFill/>
        </p:spPr>
        <p:txBody>
          <a:bodyPr wrap="square">
            <a:spAutoFit/>
          </a:bodyPr>
          <a:lstStyle/>
          <a:p>
            <a:pPr algn="l"/>
            <a:r>
              <a:rPr sz="1600" b="1">
                <a:solidFill>
                  <a:srgbClr val="C2410C"/>
                </a:solidFill>
                <a:latin typeface="Calibri"/>
              </a:rPr>
              <a:t>EDIT 6%</a:t>
            </a:r>
          </a:p>
        </p:txBody>
      </p:sp>
      <p:sp>
        <p:nvSpPr>
          <p:cNvPr id="33" name="TextBox 32"/>
          <p:cNvSpPr txBox="1"/>
          <p:nvPr/>
        </p:nvSpPr>
        <p:spPr>
          <a:xfrm>
            <a:off x="3383280" y="5303520"/>
            <a:ext cx="2606040" cy="548640"/>
          </a:xfrm>
          <a:prstGeom prst="rect">
            <a:avLst/>
          </a:prstGeom>
          <a:noFill/>
        </p:spPr>
        <p:txBody>
          <a:bodyPr wrap="square">
            <a:spAutoFit/>
          </a:bodyPr>
          <a:lstStyle/>
          <a:p>
            <a:pPr algn="l"/>
            <a:r>
              <a:rPr sz="1300" b="0">
                <a:solidFill>
                  <a:srgbClr val="475569"/>
                </a:solidFill>
                <a:latin typeface="Calibri"/>
              </a:rPr>
              <a:t>Redact and release</a:t>
            </a:r>
          </a:p>
        </p:txBody>
      </p:sp>
      <p:sp>
        <p:nvSpPr>
          <p:cNvPr id="34" name="Rounded Rectangle 33"/>
          <p:cNvSpPr/>
          <p:nvPr/>
        </p:nvSpPr>
        <p:spPr>
          <a:xfrm>
            <a:off x="6217920" y="4709160"/>
            <a:ext cx="27889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846320"/>
            <a:ext cx="2606040" cy="411480"/>
          </a:xfrm>
          <a:prstGeom prst="rect">
            <a:avLst/>
          </a:prstGeom>
          <a:noFill/>
        </p:spPr>
        <p:txBody>
          <a:bodyPr wrap="square">
            <a:spAutoFit/>
          </a:bodyPr>
          <a:lstStyle/>
          <a:p>
            <a:pPr algn="l"/>
            <a:r>
              <a:rPr sz="1600" b="1">
                <a:solidFill>
                  <a:srgbClr val="6D28D9"/>
                </a:solidFill>
                <a:latin typeface="Calibri"/>
              </a:rPr>
              <a:t>FLAG 11%</a:t>
            </a:r>
          </a:p>
        </p:txBody>
      </p:sp>
      <p:sp>
        <p:nvSpPr>
          <p:cNvPr id="36" name="TextBox 35"/>
          <p:cNvSpPr txBox="1"/>
          <p:nvPr/>
        </p:nvSpPr>
        <p:spPr>
          <a:xfrm>
            <a:off x="6309360" y="5303520"/>
            <a:ext cx="2606040" cy="548640"/>
          </a:xfrm>
          <a:prstGeom prst="rect">
            <a:avLst/>
          </a:prstGeom>
          <a:noFill/>
        </p:spPr>
        <p:txBody>
          <a:bodyPr wrap="square">
            <a:spAutoFit/>
          </a:bodyPr>
          <a:lstStyle/>
          <a:p>
            <a:pPr algn="l"/>
            <a:r>
              <a:rPr sz="1300" b="0">
                <a:solidFill>
                  <a:srgbClr val="475569"/>
                </a:solidFill>
                <a:latin typeface="Calibri"/>
              </a:rPr>
              <a:t>3,520 reviews / week</a:t>
            </a:r>
          </a:p>
        </p:txBody>
      </p:sp>
      <p:sp>
        <p:nvSpPr>
          <p:cNvPr id="37" name="Rounded Rectangle 36"/>
          <p:cNvSpPr/>
          <p:nvPr/>
        </p:nvSpPr>
        <p:spPr>
          <a:xfrm>
            <a:off x="9144000" y="4709160"/>
            <a:ext cx="27889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4846320"/>
            <a:ext cx="2606040" cy="411480"/>
          </a:xfrm>
          <a:prstGeom prst="rect">
            <a:avLst/>
          </a:prstGeom>
          <a:noFill/>
        </p:spPr>
        <p:txBody>
          <a:bodyPr wrap="square">
            <a:spAutoFit/>
          </a:bodyPr>
          <a:lstStyle/>
          <a:p>
            <a:pPr algn="l"/>
            <a:r>
              <a:rPr sz="1600" b="1">
                <a:solidFill>
                  <a:srgbClr val="B91C1C"/>
                </a:solidFill>
                <a:latin typeface="Calibri"/>
              </a:rPr>
              <a:t>BLOCK 5%</a:t>
            </a:r>
          </a:p>
        </p:txBody>
      </p:sp>
      <p:sp>
        <p:nvSpPr>
          <p:cNvPr id="39" name="TextBox 38"/>
          <p:cNvSpPr txBox="1"/>
          <p:nvPr/>
        </p:nvSpPr>
        <p:spPr>
          <a:xfrm>
            <a:off x="9235440" y="5303520"/>
            <a:ext cx="2606040" cy="548640"/>
          </a:xfrm>
          <a:prstGeom prst="rect">
            <a:avLst/>
          </a:prstGeom>
          <a:noFill/>
        </p:spPr>
        <p:txBody>
          <a:bodyPr wrap="square">
            <a:spAutoFit/>
          </a:bodyPr>
          <a:lstStyle/>
          <a:p>
            <a:pPr algn="l"/>
            <a:r>
              <a:rPr sz="1300" b="0">
                <a:solidFill>
                  <a:srgbClr val="475569"/>
                </a:solidFill>
                <a:latin typeface="Calibri"/>
              </a:rPr>
              <a:t>1,600 blocked / week</a:t>
            </a:r>
          </a:p>
        </p:txBody>
      </p:sp>
      <p:sp>
        <p:nvSpPr>
          <p:cNvPr id="40" name="Rectangle 39"/>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42" name="TextBox 41"/>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5.1 Efficiency and cost of inaction</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Cover more real risk with fewer manual reviews</a:t>
            </a:r>
          </a:p>
        </p:txBody>
      </p:sp>
      <p:sp>
        <p:nvSpPr>
          <p:cNvPr id="7" name="Rounded Rectangle 6"/>
          <p:cNvSpPr/>
          <p:nvPr/>
        </p:nvSpPr>
        <p:spPr>
          <a:xfrm>
            <a:off x="365760" y="1188720"/>
            <a:ext cx="566928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5303520" cy="365760"/>
          </a:xfrm>
          <a:prstGeom prst="rect">
            <a:avLst/>
          </a:prstGeom>
          <a:noFill/>
        </p:spPr>
        <p:txBody>
          <a:bodyPr wrap="square">
            <a:spAutoFit/>
          </a:bodyPr>
          <a:lstStyle/>
          <a:p>
            <a:pPr algn="l"/>
            <a:r>
              <a:rPr sz="1600" b="1">
                <a:solidFill>
                  <a:srgbClr val="B91C1C"/>
                </a:solidFill>
                <a:latin typeface="Calibri"/>
              </a:rPr>
              <a:t>Without ControlPlane</a:t>
            </a:r>
          </a:p>
        </p:txBody>
      </p:sp>
      <p:sp>
        <p:nvSpPr>
          <p:cNvPr id="9" name="TextBox 8"/>
          <p:cNvSpPr txBox="1"/>
          <p:nvPr/>
        </p:nvSpPr>
        <p:spPr>
          <a:xfrm>
            <a:off x="548640" y="1828800"/>
            <a:ext cx="5303520" cy="2286000"/>
          </a:xfrm>
          <a:prstGeom prst="rect">
            <a:avLst/>
          </a:prstGeom>
          <a:noFill/>
        </p:spPr>
        <p:txBody>
          <a:bodyPr wrap="square">
            <a:spAutoFit/>
          </a:bodyPr>
          <a:lstStyle/>
          <a:p>
            <a:pPr algn="l"/>
            <a:r>
              <a:rPr sz="1500" b="0">
                <a:solidFill>
                  <a:srgbClr val="1E293B"/>
                </a:solidFill>
                <a:latin typeface="Calibri"/>
              </a:rPr>
              <a:t>If the organisation spot-checks 20% of conversations:
32,000 × 20% = 6,400 reviews / week
High-impact errors can still reach users in the unreviewed 80%. Reviewing everything is not operable.</a:t>
            </a:r>
          </a:p>
        </p:txBody>
      </p:sp>
      <p:sp>
        <p:nvSpPr>
          <p:cNvPr id="10" name="Rounded Rectangle 9"/>
          <p:cNvSpPr/>
          <p:nvPr/>
        </p:nvSpPr>
        <p:spPr>
          <a:xfrm>
            <a:off x="6217920" y="1188720"/>
            <a:ext cx="5577840" cy="3246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325880"/>
            <a:ext cx="5212080" cy="365760"/>
          </a:xfrm>
          <a:prstGeom prst="rect">
            <a:avLst/>
          </a:prstGeom>
          <a:noFill/>
        </p:spPr>
        <p:txBody>
          <a:bodyPr wrap="square">
            <a:spAutoFit/>
          </a:bodyPr>
          <a:lstStyle/>
          <a:p>
            <a:pPr algn="l"/>
            <a:r>
              <a:rPr sz="1600" b="1">
                <a:solidFill>
                  <a:srgbClr val="047857"/>
                </a:solidFill>
                <a:latin typeface="Calibri"/>
              </a:rPr>
              <a:t>With ControlPlane</a:t>
            </a:r>
          </a:p>
        </p:txBody>
      </p:sp>
      <p:sp>
        <p:nvSpPr>
          <p:cNvPr id="12" name="TextBox 11"/>
          <p:cNvSpPr txBox="1"/>
          <p:nvPr/>
        </p:nvSpPr>
        <p:spPr>
          <a:xfrm>
            <a:off x="6400800" y="1828800"/>
            <a:ext cx="5212080" cy="2286000"/>
          </a:xfrm>
          <a:prstGeom prst="rect">
            <a:avLst/>
          </a:prstGeom>
          <a:noFill/>
        </p:spPr>
        <p:txBody>
          <a:bodyPr wrap="square">
            <a:spAutoFit/>
          </a:bodyPr>
          <a:lstStyle/>
          <a:p>
            <a:pPr algn="l"/>
            <a:r>
              <a:rPr sz="1500" b="0">
                <a:solidFill>
                  <a:srgbClr val="1E293B"/>
                </a:solidFill>
                <a:latin typeface="Calibri"/>
              </a:rPr>
              <a:t>Review concentrates on the flagged 11%:
32,000 × 11% = 3,520 reviews / week
About 2,880 fewer reviews per week, with better coverage of actually risky cases. ALLOW traffic can still be sampled for quality.</a:t>
            </a:r>
          </a:p>
        </p:txBody>
      </p:sp>
      <p:sp>
        <p:nvSpPr>
          <p:cNvPr id="13" name="Rounded Rectangle 12"/>
          <p:cNvSpPr/>
          <p:nvPr/>
        </p:nvSpPr>
        <p:spPr>
          <a:xfrm>
            <a:off x="365760" y="4617720"/>
            <a:ext cx="11430000" cy="1554480"/>
          </a:xfrm>
          <a:prstGeom prst="roundRect">
            <a:avLst>
              <a:gd name="adj" fmla="val 8000"/>
            </a:avLst>
          </a:prstGeom>
          <a:solidFill>
            <a:srgbClr val="EE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754880"/>
            <a:ext cx="11064240" cy="320040"/>
          </a:xfrm>
          <a:prstGeom prst="rect">
            <a:avLst/>
          </a:prstGeom>
          <a:noFill/>
        </p:spPr>
        <p:txBody>
          <a:bodyPr wrap="square">
            <a:spAutoFit/>
          </a:bodyPr>
          <a:lstStyle/>
          <a:p>
            <a:pPr algn="l"/>
            <a:r>
              <a:rPr sz="1400" b="1">
                <a:solidFill>
                  <a:srgbClr val="1E2F6E"/>
                </a:solidFill>
                <a:latin typeface="Calibri"/>
              </a:rPr>
              <a:t>Cost of inaction is event-driven</a:t>
            </a:r>
          </a:p>
        </p:txBody>
      </p:sp>
      <p:sp>
        <p:nvSpPr>
          <p:cNvPr id="15" name="TextBox 14"/>
          <p:cNvSpPr txBox="1"/>
          <p:nvPr/>
        </p:nvSpPr>
        <p:spPr>
          <a:xfrm>
            <a:off x="594360" y="5120640"/>
            <a:ext cx="11064240" cy="868680"/>
          </a:xfrm>
          <a:prstGeom prst="rect">
            <a:avLst/>
          </a:prstGeom>
          <a:noFill/>
        </p:spPr>
        <p:txBody>
          <a:bodyPr wrap="square">
            <a:spAutoFit/>
          </a:bodyPr>
          <a:lstStyle/>
          <a:p>
            <a:pPr algn="l"/>
            <a:r>
              <a:rPr sz="1400" b="0">
                <a:solidFill>
                  <a:srgbClr val="1E293B"/>
                </a:solidFill>
                <a:latin typeface="Calibri"/>
              </a:rPr>
              <a:t>A customer PII leak, a wrong HR/product policy, or biased hiring/credit language can each exceed the cost of a governance layer. Latency is designed as a bounded overhead — if the control plane adds seconds, product teams will route around it.</a:t>
            </a:r>
          </a:p>
        </p:txBody>
      </p:sp>
      <p:sp>
        <p:nvSpPr>
          <p:cNvPr id="16" name="Rectangle 15"/>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18" name="TextBox 17"/>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6. Phased roadmap</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Do not skip from prototype to agent governance</a:t>
            </a:r>
          </a:p>
        </p:txBody>
      </p:sp>
      <p:sp>
        <p:nvSpPr>
          <p:cNvPr id="7" name="Rounded Rectangle 6"/>
          <p:cNvSpPr/>
          <p:nvPr/>
        </p:nvSpPr>
        <p:spPr>
          <a:xfrm>
            <a:off x="411480" y="1170432"/>
            <a:ext cx="1133856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91440" cy="9144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80160"/>
            <a:ext cx="2011680" cy="320040"/>
          </a:xfrm>
          <a:prstGeom prst="rect">
            <a:avLst/>
          </a:prstGeom>
          <a:noFill/>
        </p:spPr>
        <p:txBody>
          <a:bodyPr wrap="square">
            <a:spAutoFit/>
          </a:bodyPr>
          <a:lstStyle/>
          <a:p>
            <a:pPr algn="l"/>
            <a:r>
              <a:rPr sz="1400" b="1">
                <a:solidFill>
                  <a:srgbClr val="3B5BDB"/>
                </a:solidFill>
                <a:latin typeface="Calibri"/>
              </a:rPr>
              <a:t>Phase 0</a:t>
            </a:r>
          </a:p>
        </p:txBody>
      </p:sp>
      <p:sp>
        <p:nvSpPr>
          <p:cNvPr id="10" name="TextBox 9"/>
          <p:cNvSpPr txBox="1"/>
          <p:nvPr/>
        </p:nvSpPr>
        <p:spPr>
          <a:xfrm>
            <a:off x="685800" y="1609344"/>
            <a:ext cx="2011680" cy="320040"/>
          </a:xfrm>
          <a:prstGeom prst="rect">
            <a:avLst/>
          </a:prstGeom>
          <a:noFill/>
        </p:spPr>
        <p:txBody>
          <a:bodyPr wrap="square">
            <a:spAutoFit/>
          </a:bodyPr>
          <a:lstStyle/>
          <a:p>
            <a:pPr algn="l"/>
            <a:r>
              <a:rPr sz="1200" b="0">
                <a:solidFill>
                  <a:srgbClr val="475569"/>
                </a:solidFill>
                <a:latin typeface="Calibri"/>
              </a:rPr>
              <a:t>Now</a:t>
            </a:r>
          </a:p>
        </p:txBody>
      </p:sp>
      <p:sp>
        <p:nvSpPr>
          <p:cNvPr id="11" name="TextBox 10"/>
          <p:cNvSpPr txBox="1"/>
          <p:nvPr/>
        </p:nvSpPr>
        <p:spPr>
          <a:xfrm>
            <a:off x="2926080" y="1371600"/>
            <a:ext cx="8503920" cy="548640"/>
          </a:xfrm>
          <a:prstGeom prst="rect">
            <a:avLst/>
          </a:prstGeom>
          <a:noFill/>
        </p:spPr>
        <p:txBody>
          <a:bodyPr wrap="square">
            <a:spAutoFit/>
          </a:bodyPr>
          <a:lstStyle/>
          <a:p>
            <a:pPr algn="l"/>
            <a:r>
              <a:rPr sz="1400" b="0">
                <a:solidFill>
                  <a:srgbClr val="1E293B"/>
                </a:solidFill>
                <a:latin typeface="Calibri"/>
              </a:rPr>
              <a:t>Round 2 prototype. Prove intercept, detect, score, decide, explain on simulated data.</a:t>
            </a:r>
          </a:p>
        </p:txBody>
      </p:sp>
      <p:sp>
        <p:nvSpPr>
          <p:cNvPr id="12" name="Rounded Rectangle 11"/>
          <p:cNvSpPr/>
          <p:nvPr/>
        </p:nvSpPr>
        <p:spPr>
          <a:xfrm>
            <a:off x="411480" y="2176272"/>
            <a:ext cx="1133856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176272"/>
            <a:ext cx="91440" cy="9144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286000"/>
            <a:ext cx="2011680" cy="320040"/>
          </a:xfrm>
          <a:prstGeom prst="rect">
            <a:avLst/>
          </a:prstGeom>
          <a:noFill/>
        </p:spPr>
        <p:txBody>
          <a:bodyPr wrap="square">
            <a:spAutoFit/>
          </a:bodyPr>
          <a:lstStyle/>
          <a:p>
            <a:pPr algn="l"/>
            <a:r>
              <a:rPr sz="1400" b="1">
                <a:solidFill>
                  <a:srgbClr val="3B5BDB"/>
                </a:solidFill>
                <a:latin typeface="Calibri"/>
              </a:rPr>
              <a:t>Phase 1</a:t>
            </a:r>
          </a:p>
        </p:txBody>
      </p:sp>
      <p:sp>
        <p:nvSpPr>
          <p:cNvPr id="15" name="TextBox 14"/>
          <p:cNvSpPr txBox="1"/>
          <p:nvPr/>
        </p:nvSpPr>
        <p:spPr>
          <a:xfrm>
            <a:off x="685800" y="2615184"/>
            <a:ext cx="2011680" cy="320040"/>
          </a:xfrm>
          <a:prstGeom prst="rect">
            <a:avLst/>
          </a:prstGeom>
          <a:noFill/>
        </p:spPr>
        <p:txBody>
          <a:bodyPr wrap="square">
            <a:spAutoFit/>
          </a:bodyPr>
          <a:lstStyle/>
          <a:p>
            <a:pPr algn="l"/>
            <a:r>
              <a:rPr sz="1200" b="0">
                <a:solidFill>
                  <a:srgbClr val="475569"/>
                </a:solidFill>
                <a:latin typeface="Calibri"/>
              </a:rPr>
              <a:t>0–3 months</a:t>
            </a:r>
          </a:p>
        </p:txBody>
      </p:sp>
      <p:sp>
        <p:nvSpPr>
          <p:cNvPr id="16" name="TextBox 15"/>
          <p:cNvSpPr txBox="1"/>
          <p:nvPr/>
        </p:nvSpPr>
        <p:spPr>
          <a:xfrm>
            <a:off x="2926080" y="2377440"/>
            <a:ext cx="8503920" cy="548640"/>
          </a:xfrm>
          <a:prstGeom prst="rect">
            <a:avLst/>
          </a:prstGeom>
          <a:noFill/>
        </p:spPr>
        <p:txBody>
          <a:bodyPr wrap="square">
            <a:spAutoFit/>
          </a:bodyPr>
          <a:lstStyle/>
          <a:p>
            <a:pPr algn="l"/>
            <a:r>
              <a:rPr sz="1400" b="0">
                <a:solidFill>
                  <a:srgbClr val="1E293B"/>
                </a:solidFill>
                <a:latin typeface="Calibri"/>
              </a:rPr>
              <a:t>Design-partner pilot. Real documents, real model API, SSO/RBAC, measured FP/FN, reviewer SOP.</a:t>
            </a:r>
          </a:p>
        </p:txBody>
      </p:sp>
      <p:sp>
        <p:nvSpPr>
          <p:cNvPr id="17" name="Rounded Rectangle 16"/>
          <p:cNvSpPr/>
          <p:nvPr/>
        </p:nvSpPr>
        <p:spPr>
          <a:xfrm>
            <a:off x="411480" y="3182112"/>
            <a:ext cx="1133856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3182112"/>
            <a:ext cx="91440" cy="9144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291840"/>
            <a:ext cx="2011680" cy="320040"/>
          </a:xfrm>
          <a:prstGeom prst="rect">
            <a:avLst/>
          </a:prstGeom>
          <a:noFill/>
        </p:spPr>
        <p:txBody>
          <a:bodyPr wrap="square">
            <a:spAutoFit/>
          </a:bodyPr>
          <a:lstStyle/>
          <a:p>
            <a:pPr algn="l"/>
            <a:r>
              <a:rPr sz="1400" b="1">
                <a:solidFill>
                  <a:srgbClr val="3B5BDB"/>
                </a:solidFill>
                <a:latin typeface="Calibri"/>
              </a:rPr>
              <a:t>Phase 2</a:t>
            </a:r>
          </a:p>
        </p:txBody>
      </p:sp>
      <p:sp>
        <p:nvSpPr>
          <p:cNvPr id="20" name="TextBox 19"/>
          <p:cNvSpPr txBox="1"/>
          <p:nvPr/>
        </p:nvSpPr>
        <p:spPr>
          <a:xfrm>
            <a:off x="685800" y="3621024"/>
            <a:ext cx="2011680" cy="320040"/>
          </a:xfrm>
          <a:prstGeom prst="rect">
            <a:avLst/>
          </a:prstGeom>
          <a:noFill/>
        </p:spPr>
        <p:txBody>
          <a:bodyPr wrap="square">
            <a:spAutoFit/>
          </a:bodyPr>
          <a:lstStyle/>
          <a:p>
            <a:pPr algn="l"/>
            <a:r>
              <a:rPr sz="1200" b="0">
                <a:solidFill>
                  <a:srgbClr val="475569"/>
                </a:solidFill>
                <a:latin typeface="Calibri"/>
              </a:rPr>
              <a:t>3–9 months</a:t>
            </a:r>
          </a:p>
        </p:txBody>
      </p:sp>
      <p:sp>
        <p:nvSpPr>
          <p:cNvPr id="21" name="TextBox 20"/>
          <p:cNvSpPr txBox="1"/>
          <p:nvPr/>
        </p:nvSpPr>
        <p:spPr>
          <a:xfrm>
            <a:off x="2926080" y="3383280"/>
            <a:ext cx="8503920" cy="548640"/>
          </a:xfrm>
          <a:prstGeom prst="rect">
            <a:avLst/>
          </a:prstGeom>
          <a:noFill/>
        </p:spPr>
        <p:txBody>
          <a:bodyPr wrap="square">
            <a:spAutoFit/>
          </a:bodyPr>
          <a:lstStyle/>
          <a:p>
            <a:pPr algn="l"/>
            <a:r>
              <a:rPr sz="1400" b="0">
                <a:solidFill>
                  <a:srgbClr val="1E293B"/>
                </a:solidFill>
                <a:latin typeface="Calibri"/>
              </a:rPr>
              <a:t>Enterprise production. Connectors, encryption, retention, FinOps dashboards, shared service.</a:t>
            </a:r>
          </a:p>
        </p:txBody>
      </p:sp>
      <p:sp>
        <p:nvSpPr>
          <p:cNvPr id="22" name="Rounded Rectangle 21"/>
          <p:cNvSpPr/>
          <p:nvPr/>
        </p:nvSpPr>
        <p:spPr>
          <a:xfrm>
            <a:off x="411480" y="4187952"/>
            <a:ext cx="1133856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4187952"/>
            <a:ext cx="91440" cy="9144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297680"/>
            <a:ext cx="2011680" cy="320040"/>
          </a:xfrm>
          <a:prstGeom prst="rect">
            <a:avLst/>
          </a:prstGeom>
          <a:noFill/>
        </p:spPr>
        <p:txBody>
          <a:bodyPr wrap="square">
            <a:spAutoFit/>
          </a:bodyPr>
          <a:lstStyle/>
          <a:p>
            <a:pPr algn="l"/>
            <a:r>
              <a:rPr sz="1400" b="1">
                <a:solidFill>
                  <a:srgbClr val="3B5BDB"/>
                </a:solidFill>
                <a:latin typeface="Calibri"/>
              </a:rPr>
              <a:t>Phase 3</a:t>
            </a:r>
          </a:p>
        </p:txBody>
      </p:sp>
      <p:sp>
        <p:nvSpPr>
          <p:cNvPr id="25" name="TextBox 24"/>
          <p:cNvSpPr txBox="1"/>
          <p:nvPr/>
        </p:nvSpPr>
        <p:spPr>
          <a:xfrm>
            <a:off x="685800" y="4626864"/>
            <a:ext cx="2011680" cy="320040"/>
          </a:xfrm>
          <a:prstGeom prst="rect">
            <a:avLst/>
          </a:prstGeom>
          <a:noFill/>
        </p:spPr>
        <p:txBody>
          <a:bodyPr wrap="square">
            <a:spAutoFit/>
          </a:bodyPr>
          <a:lstStyle/>
          <a:p>
            <a:pPr algn="l"/>
            <a:r>
              <a:rPr sz="1200" b="0">
                <a:solidFill>
                  <a:srgbClr val="475569"/>
                </a:solidFill>
                <a:latin typeface="Calibri"/>
              </a:rPr>
              <a:t>9–18 months</a:t>
            </a:r>
          </a:p>
        </p:txBody>
      </p:sp>
      <p:sp>
        <p:nvSpPr>
          <p:cNvPr id="26" name="TextBox 25"/>
          <p:cNvSpPr txBox="1"/>
          <p:nvPr/>
        </p:nvSpPr>
        <p:spPr>
          <a:xfrm>
            <a:off x="2926080" y="4389120"/>
            <a:ext cx="8503920" cy="548640"/>
          </a:xfrm>
          <a:prstGeom prst="rect">
            <a:avLst/>
          </a:prstGeom>
          <a:noFill/>
        </p:spPr>
        <p:txBody>
          <a:bodyPr wrap="square">
            <a:spAutoFit/>
          </a:bodyPr>
          <a:lstStyle/>
          <a:p>
            <a:pPr algn="l"/>
            <a:r>
              <a:rPr sz="1400" b="0">
                <a:solidFill>
                  <a:srgbClr val="1E293B"/>
                </a:solidFill>
                <a:latin typeface="Calibri"/>
              </a:rPr>
              <a:t>Agents and multi-model. Intercept tool calls, policy simulation before new use cases.</a:t>
            </a:r>
          </a:p>
        </p:txBody>
      </p:sp>
      <p:sp>
        <p:nvSpPr>
          <p:cNvPr id="27" name="Rounded Rectangle 26"/>
          <p:cNvSpPr/>
          <p:nvPr/>
        </p:nvSpPr>
        <p:spPr>
          <a:xfrm>
            <a:off x="411480" y="5193792"/>
            <a:ext cx="1133856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5193792"/>
            <a:ext cx="91440" cy="9144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303520"/>
            <a:ext cx="2011680" cy="320040"/>
          </a:xfrm>
          <a:prstGeom prst="rect">
            <a:avLst/>
          </a:prstGeom>
          <a:noFill/>
        </p:spPr>
        <p:txBody>
          <a:bodyPr wrap="square">
            <a:spAutoFit/>
          </a:bodyPr>
          <a:lstStyle/>
          <a:p>
            <a:pPr algn="l"/>
            <a:r>
              <a:rPr sz="1400" b="1">
                <a:solidFill>
                  <a:srgbClr val="3B5BDB"/>
                </a:solidFill>
                <a:latin typeface="Calibri"/>
              </a:rPr>
              <a:t>Phase 4</a:t>
            </a:r>
          </a:p>
        </p:txBody>
      </p:sp>
      <p:sp>
        <p:nvSpPr>
          <p:cNvPr id="30" name="TextBox 29"/>
          <p:cNvSpPr txBox="1"/>
          <p:nvPr/>
        </p:nvSpPr>
        <p:spPr>
          <a:xfrm>
            <a:off x="685800" y="5632704"/>
            <a:ext cx="2011680" cy="320040"/>
          </a:xfrm>
          <a:prstGeom prst="rect">
            <a:avLst/>
          </a:prstGeom>
          <a:noFill/>
        </p:spPr>
        <p:txBody>
          <a:bodyPr wrap="square">
            <a:spAutoFit/>
          </a:bodyPr>
          <a:lstStyle/>
          <a:p>
            <a:pPr algn="l"/>
            <a:r>
              <a:rPr sz="1200" b="0">
                <a:solidFill>
                  <a:srgbClr val="475569"/>
                </a:solidFill>
                <a:latin typeface="Calibri"/>
              </a:rPr>
              <a:t>18 months+</a:t>
            </a:r>
          </a:p>
        </p:txBody>
      </p:sp>
      <p:sp>
        <p:nvSpPr>
          <p:cNvPr id="31" name="TextBox 30"/>
          <p:cNvSpPr txBox="1"/>
          <p:nvPr/>
        </p:nvSpPr>
        <p:spPr>
          <a:xfrm>
            <a:off x="2926080" y="5394960"/>
            <a:ext cx="8503920" cy="548640"/>
          </a:xfrm>
          <a:prstGeom prst="rect">
            <a:avLst/>
          </a:prstGeom>
          <a:noFill/>
        </p:spPr>
        <p:txBody>
          <a:bodyPr wrap="square">
            <a:spAutoFit/>
          </a:bodyPr>
          <a:lstStyle/>
          <a:p>
            <a:pPr algn="l"/>
            <a:r>
              <a:rPr sz="1400" b="0">
                <a:solidFill>
                  <a:srgbClr val="1E293B"/>
                </a:solidFill>
                <a:latin typeface="Calibri"/>
              </a:rPr>
              <a:t>Platform scale. Detector marketplace, sector playbooks, partner-led delivery.</a:t>
            </a:r>
          </a:p>
        </p:txBody>
      </p:sp>
      <p:sp>
        <p:nvSpPr>
          <p:cNvPr id="32" name="Rectangle 31"/>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34" name="TextBox 33"/>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6.1 90-day pilot success criteria</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What “good” looks like before productising further</a:t>
            </a:r>
          </a:p>
        </p:txBody>
      </p:sp>
      <p:sp>
        <p:nvSpPr>
          <p:cNvPr id="7" name="TextBox 6"/>
          <p:cNvSpPr txBox="1"/>
          <p:nvPr/>
        </p:nvSpPr>
        <p:spPr>
          <a:xfrm>
            <a:off x="548640" y="1280160"/>
            <a:ext cx="10972800" cy="3840480"/>
          </a:xfrm>
          <a:prstGeom prst="rect">
            <a:avLst/>
          </a:prstGeom>
          <a:noFill/>
        </p:spPr>
        <p:txBody>
          <a:bodyPr wrap="square">
            <a:spAutoFit/>
          </a:bodyPr>
          <a:lstStyle/>
          <a:p>
            <a:pPr>
              <a:spcAft>
                <a:spcPts val="800"/>
              </a:spcAft>
            </a:pPr>
            <a:r>
              <a:rPr sz="1800" b="0">
                <a:solidFill>
                  <a:srgbClr val="1E293B"/>
                </a:solidFill>
                <a:latin typeface="Calibri"/>
              </a:rPr>
              <a:t>•  At least three applications on-boarded with distinct policies</a:t>
            </a:r>
          </a:p>
          <a:p>
            <a:pPr>
              <a:spcAft>
                <a:spcPts val="800"/>
              </a:spcAft>
            </a:pPr>
            <a:r>
              <a:rPr sz="1800" b="0">
                <a:solidFill>
                  <a:srgbClr val="1E293B"/>
                </a:solidFill>
                <a:latin typeface="Calibri"/>
              </a:rPr>
              <a:t>•  Every decision is explainable and logged</a:t>
            </a:r>
          </a:p>
          <a:p>
            <a:pPr>
              <a:spcAft>
                <a:spcPts val="800"/>
              </a:spcAft>
            </a:pPr>
            <a:r>
              <a:rPr sz="1800" b="0">
                <a:solidFill>
                  <a:srgbClr val="1E293B"/>
                </a:solidFill>
                <a:latin typeface="Calibri"/>
              </a:rPr>
              <a:t>•  Reviewers clear the queue within the agreed SLA</a:t>
            </a:r>
          </a:p>
          <a:p>
            <a:pPr>
              <a:spcAft>
                <a:spcPts val="800"/>
              </a:spcAft>
            </a:pPr>
            <a:r>
              <a:rPr sz="1800" b="0">
                <a:solidFill>
                  <a:srgbClr val="1E293B"/>
                </a:solidFill>
                <a:latin typeface="Calibri"/>
              </a:rPr>
              <a:t>•  False-positive rate is measured and used to tune thresholds</a:t>
            </a:r>
          </a:p>
          <a:p>
            <a:pPr>
              <a:spcAft>
                <a:spcPts val="800"/>
              </a:spcAft>
            </a:pPr>
            <a:r>
              <a:rPr sz="1800" b="0">
                <a:solidFill>
                  <a:srgbClr val="1E293B"/>
                </a:solidFill>
                <a:latin typeface="Calibri"/>
              </a:rPr>
              <a:t>•  Application owners can show a before/after sample of risky outputs that were edited, flagged or blocked</a:t>
            </a:r>
          </a:p>
          <a:p>
            <a:pPr>
              <a:spcAft>
                <a:spcPts val="800"/>
              </a:spcAft>
            </a:pPr>
            <a:r>
              <a:rPr sz="1800" b="0">
                <a:solidFill>
                  <a:srgbClr val="1E293B"/>
                </a:solidFill>
                <a:latin typeface="Calibri"/>
              </a:rPr>
              <a:t>•  Added latency stays within the agreed budget for each use case</a:t>
            </a:r>
          </a:p>
        </p:txBody>
      </p:sp>
      <p:sp>
        <p:nvSpPr>
          <p:cNvPr id="8" name="TextBox 7"/>
          <p:cNvSpPr txBox="1"/>
          <p:nvPr/>
        </p:nvSpPr>
        <p:spPr>
          <a:xfrm>
            <a:off x="548640" y="5394960"/>
            <a:ext cx="11064240" cy="731520"/>
          </a:xfrm>
          <a:prstGeom prst="rect">
            <a:avLst/>
          </a:prstGeom>
          <a:noFill/>
        </p:spPr>
        <p:txBody>
          <a:bodyPr wrap="square">
            <a:spAutoFit/>
          </a:bodyPr>
          <a:lstStyle/>
          <a:p>
            <a:pPr algn="l"/>
            <a:r>
              <a:rPr sz="1400" b="0">
                <a:solidFill>
                  <a:srgbClr val="475569"/>
                </a:solidFill>
                <a:latin typeface="Calibri"/>
              </a:rPr>
              <a:t>Recommended sequence: keep the current prototype as the demo artefact → select one design partner with three live AI use cases → run the 90-day policy-tuning pilot → only then productise identity, connectors and agent-action interception.</a:t>
            </a:r>
          </a:p>
        </p:txBody>
      </p:sp>
      <p:sp>
        <p:nvSpPr>
          <p:cNvPr id="9" name="Rectangle 8"/>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11" name="TextBox 10"/>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384048"/>
          </a:xfrm>
          <a:prstGeom prst="rect">
            <a:avLst/>
          </a:prstGeom>
          <a:noFill/>
        </p:spPr>
        <p:txBody>
          <a:bodyPr wrap="square">
            <a:spAutoFit/>
          </a:bodyPr>
          <a:lstStyle/>
          <a:p>
            <a:pPr algn="l"/>
            <a:r>
              <a:rPr sz="2400" b="1">
                <a:solidFill>
                  <a:srgbClr val="FFFFFF"/>
                </a:solidFill>
                <a:latin typeface="Calibri"/>
              </a:rPr>
              <a:t>7. Key risks and mitigations</a:t>
            </a:r>
          </a:p>
        </p:txBody>
      </p:sp>
      <p:sp>
        <p:nvSpPr>
          <p:cNvPr id="6" name="TextBox 5"/>
          <p:cNvSpPr txBox="1"/>
          <p:nvPr/>
        </p:nvSpPr>
        <p:spPr>
          <a:xfrm>
            <a:off x="411480" y="566928"/>
            <a:ext cx="11338560" cy="292608"/>
          </a:xfrm>
          <a:prstGeom prst="rect">
            <a:avLst/>
          </a:prstGeom>
          <a:noFill/>
        </p:spPr>
        <p:txBody>
          <a:bodyPr wrap="square">
            <a:spAutoFit/>
          </a:bodyPr>
          <a:lstStyle/>
          <a:p>
            <a:pPr algn="l"/>
            <a:r>
              <a:rPr sz="1200" b="0">
                <a:solidFill>
                  <a:srgbClr val="C7D2FE"/>
                </a:solidFill>
                <a:latin typeface="Calibri"/>
              </a:rPr>
              <a:t>The product is designed around these, not despite them</a:t>
            </a:r>
          </a:p>
        </p:txBody>
      </p:sp>
      <p:sp>
        <p:nvSpPr>
          <p:cNvPr id="7" name="Rounded Rectangle 6"/>
          <p:cNvSpPr/>
          <p:nvPr/>
        </p:nvSpPr>
        <p:spPr>
          <a:xfrm>
            <a:off x="274320" y="117043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7043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280160"/>
            <a:ext cx="2496312" cy="292608"/>
          </a:xfrm>
          <a:prstGeom prst="rect">
            <a:avLst/>
          </a:prstGeom>
          <a:noFill/>
        </p:spPr>
        <p:txBody>
          <a:bodyPr wrap="square">
            <a:spAutoFit/>
          </a:bodyPr>
          <a:lstStyle/>
          <a:p>
            <a:pPr algn="l"/>
            <a:r>
              <a:rPr sz="1300" b="1">
                <a:solidFill>
                  <a:srgbClr val="1E2F6E"/>
                </a:solidFill>
                <a:latin typeface="Calibri"/>
              </a:rPr>
              <a:t>Over-flagging</a:t>
            </a:r>
          </a:p>
        </p:txBody>
      </p:sp>
      <p:sp>
        <p:nvSpPr>
          <p:cNvPr id="10" name="TextBox 9"/>
          <p:cNvSpPr txBox="1"/>
          <p:nvPr/>
        </p:nvSpPr>
        <p:spPr>
          <a:xfrm>
            <a:off x="475488" y="1572768"/>
            <a:ext cx="2459736" cy="1810512"/>
          </a:xfrm>
          <a:prstGeom prst="rect">
            <a:avLst/>
          </a:prstGeom>
          <a:noFill/>
        </p:spPr>
        <p:txBody>
          <a:bodyPr wrap="square">
            <a:spAutoFit/>
          </a:bodyPr>
          <a:lstStyle/>
          <a:p>
            <a:r>
              <a:rPr sz="1200" b="0">
                <a:solidFill>
                  <a:srgbClr val="475569"/>
                </a:solidFill>
                <a:latin typeface="Calibri"/>
              </a:rPr>
              <a:t>Tiered ALLOW / EDIT / FLAG / BLOCK; per-app thresholds; feedback retune; simulator before rollout.</a:t>
            </a:r>
          </a:p>
        </p:txBody>
      </p:sp>
      <p:sp>
        <p:nvSpPr>
          <p:cNvPr id="11" name="Rounded Rectangle 10"/>
          <p:cNvSpPr/>
          <p:nvPr/>
        </p:nvSpPr>
        <p:spPr>
          <a:xfrm>
            <a:off x="3200400" y="117043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117043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1568" y="1280160"/>
            <a:ext cx="2496312" cy="292608"/>
          </a:xfrm>
          <a:prstGeom prst="rect">
            <a:avLst/>
          </a:prstGeom>
          <a:noFill/>
        </p:spPr>
        <p:txBody>
          <a:bodyPr wrap="square">
            <a:spAutoFit/>
          </a:bodyPr>
          <a:lstStyle/>
          <a:p>
            <a:pPr algn="l"/>
            <a:r>
              <a:rPr sz="1300" b="1">
                <a:solidFill>
                  <a:srgbClr val="1E2F6E"/>
                </a:solidFill>
                <a:latin typeface="Calibri"/>
              </a:rPr>
              <a:t>Under-flagging</a:t>
            </a:r>
          </a:p>
        </p:txBody>
      </p:sp>
      <p:sp>
        <p:nvSpPr>
          <p:cNvPr id="14" name="TextBox 13"/>
          <p:cNvSpPr txBox="1"/>
          <p:nvPr/>
        </p:nvSpPr>
        <p:spPr>
          <a:xfrm>
            <a:off x="3401568" y="1572768"/>
            <a:ext cx="2459736" cy="1810512"/>
          </a:xfrm>
          <a:prstGeom prst="rect">
            <a:avLst/>
          </a:prstGeom>
          <a:noFill/>
        </p:spPr>
        <p:txBody>
          <a:bodyPr wrap="square">
            <a:spAutoFit/>
          </a:bodyPr>
          <a:lstStyle/>
          <a:p>
            <a:r>
              <a:rPr sz="1200" b="0">
                <a:solidFill>
                  <a:srgbClr val="475569"/>
                </a:solidFill>
                <a:latin typeface="Calibri"/>
              </a:rPr>
              <a:t>Critical PII overrides; fail-closed for strict apps; human review for bias and low-confidence claims.</a:t>
            </a:r>
          </a:p>
        </p:txBody>
      </p:sp>
      <p:sp>
        <p:nvSpPr>
          <p:cNvPr id="15" name="Rounded Rectangle 14"/>
          <p:cNvSpPr/>
          <p:nvPr/>
        </p:nvSpPr>
        <p:spPr>
          <a:xfrm>
            <a:off x="6126480" y="117043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17043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7648" y="1280160"/>
            <a:ext cx="2496312" cy="292608"/>
          </a:xfrm>
          <a:prstGeom prst="rect">
            <a:avLst/>
          </a:prstGeom>
          <a:noFill/>
        </p:spPr>
        <p:txBody>
          <a:bodyPr wrap="square">
            <a:spAutoFit/>
          </a:bodyPr>
          <a:lstStyle/>
          <a:p>
            <a:pPr algn="l"/>
            <a:r>
              <a:rPr sz="1300" b="1">
                <a:solidFill>
                  <a:srgbClr val="1E2F6E"/>
                </a:solidFill>
                <a:latin typeface="Calibri"/>
              </a:rPr>
              <a:t>No ground truth</a:t>
            </a:r>
          </a:p>
        </p:txBody>
      </p:sp>
      <p:sp>
        <p:nvSpPr>
          <p:cNvPr id="18" name="TextBox 17"/>
          <p:cNvSpPr txBox="1"/>
          <p:nvPr/>
        </p:nvSpPr>
        <p:spPr>
          <a:xfrm>
            <a:off x="6327648" y="1572768"/>
            <a:ext cx="2459736" cy="1810512"/>
          </a:xfrm>
          <a:prstGeom prst="rect">
            <a:avLst/>
          </a:prstGeom>
          <a:noFill/>
        </p:spPr>
        <p:txBody>
          <a:bodyPr wrap="square">
            <a:spAutoFit/>
          </a:bodyPr>
          <a:lstStyle/>
          <a:p>
            <a:r>
              <a:rPr sz="1200" b="0">
                <a:solidFill>
                  <a:srgbClr val="475569"/>
                </a:solidFill>
                <a:latin typeface="Calibri"/>
              </a:rPr>
              <a:t>Retrieval against approved docs; explicit UNVERIFIABLE / abstain; LLM judge is never sole truth.</a:t>
            </a:r>
          </a:p>
        </p:txBody>
      </p:sp>
      <p:sp>
        <p:nvSpPr>
          <p:cNvPr id="19" name="Rounded Rectangle 18"/>
          <p:cNvSpPr/>
          <p:nvPr/>
        </p:nvSpPr>
        <p:spPr>
          <a:xfrm>
            <a:off x="9052560" y="117043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60" y="117043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53728" y="1280160"/>
            <a:ext cx="2496312" cy="292608"/>
          </a:xfrm>
          <a:prstGeom prst="rect">
            <a:avLst/>
          </a:prstGeom>
          <a:noFill/>
        </p:spPr>
        <p:txBody>
          <a:bodyPr wrap="square">
            <a:spAutoFit/>
          </a:bodyPr>
          <a:lstStyle/>
          <a:p>
            <a:pPr algn="l"/>
            <a:r>
              <a:rPr sz="1300" b="1">
                <a:solidFill>
                  <a:srgbClr val="1E2F6E"/>
                </a:solidFill>
                <a:latin typeface="Calibri"/>
              </a:rPr>
              <a:t>Imperfect detectors</a:t>
            </a:r>
          </a:p>
        </p:txBody>
      </p:sp>
      <p:sp>
        <p:nvSpPr>
          <p:cNvPr id="22" name="TextBox 21"/>
          <p:cNvSpPr txBox="1"/>
          <p:nvPr/>
        </p:nvSpPr>
        <p:spPr>
          <a:xfrm>
            <a:off x="9253728" y="1572768"/>
            <a:ext cx="2459736" cy="1810512"/>
          </a:xfrm>
          <a:prstGeom prst="rect">
            <a:avLst/>
          </a:prstGeom>
          <a:noFill/>
        </p:spPr>
        <p:txBody>
          <a:bodyPr wrap="square">
            <a:spAutoFit/>
          </a:bodyPr>
          <a:lstStyle/>
          <a:p>
            <a:r>
              <a:rPr sz="1200" b="0">
                <a:solidFill>
                  <a:srgbClr val="475569"/>
                </a:solidFill>
                <a:latin typeface="Calibri"/>
              </a:rPr>
              <a:t>Hybrid stack; “potential bias” language; humans remain in the loop.</a:t>
            </a:r>
          </a:p>
        </p:txBody>
      </p:sp>
      <p:sp>
        <p:nvSpPr>
          <p:cNvPr id="23" name="Rounded Rectangle 22"/>
          <p:cNvSpPr/>
          <p:nvPr/>
        </p:nvSpPr>
        <p:spPr>
          <a:xfrm>
            <a:off x="274320" y="363931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63931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749040"/>
            <a:ext cx="2496312" cy="292608"/>
          </a:xfrm>
          <a:prstGeom prst="rect">
            <a:avLst/>
          </a:prstGeom>
          <a:noFill/>
        </p:spPr>
        <p:txBody>
          <a:bodyPr wrap="square">
            <a:spAutoFit/>
          </a:bodyPr>
          <a:lstStyle/>
          <a:p>
            <a:pPr algn="l"/>
            <a:r>
              <a:rPr sz="1300" b="1">
                <a:solidFill>
                  <a:srgbClr val="1E2F6E"/>
                </a:solidFill>
                <a:latin typeface="Calibri"/>
              </a:rPr>
              <a:t>Added latency</a:t>
            </a:r>
          </a:p>
        </p:txBody>
      </p:sp>
      <p:sp>
        <p:nvSpPr>
          <p:cNvPr id="26" name="TextBox 25"/>
          <p:cNvSpPr txBox="1"/>
          <p:nvPr/>
        </p:nvSpPr>
        <p:spPr>
          <a:xfrm>
            <a:off x="475488" y="4041648"/>
            <a:ext cx="2459736" cy="1810512"/>
          </a:xfrm>
          <a:prstGeom prst="rect">
            <a:avLst/>
          </a:prstGeom>
          <a:noFill/>
        </p:spPr>
        <p:txBody>
          <a:bodyPr wrap="square">
            <a:spAutoFit/>
          </a:bodyPr>
          <a:lstStyle/>
          <a:p>
            <a:r>
              <a:rPr sz="1200" b="0">
                <a:solidFill>
                  <a:srgbClr val="475569"/>
                </a:solidFill>
                <a:latin typeface="Calibri"/>
              </a:rPr>
              <a:t>Parallel detectors; cheap prefilters; skip expensive checks where policy allows.</a:t>
            </a:r>
          </a:p>
        </p:txBody>
      </p:sp>
      <p:sp>
        <p:nvSpPr>
          <p:cNvPr id="27" name="Rounded Rectangle 26"/>
          <p:cNvSpPr/>
          <p:nvPr/>
        </p:nvSpPr>
        <p:spPr>
          <a:xfrm>
            <a:off x="3200400" y="363931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0" y="363931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01568" y="3749040"/>
            <a:ext cx="2496312" cy="292608"/>
          </a:xfrm>
          <a:prstGeom prst="rect">
            <a:avLst/>
          </a:prstGeom>
          <a:noFill/>
        </p:spPr>
        <p:txBody>
          <a:bodyPr wrap="square">
            <a:spAutoFit/>
          </a:bodyPr>
          <a:lstStyle/>
          <a:p>
            <a:pPr algn="l"/>
            <a:r>
              <a:rPr sz="1300" b="1">
                <a:solidFill>
                  <a:srgbClr val="1E2F6E"/>
                </a:solidFill>
                <a:latin typeface="Calibri"/>
              </a:rPr>
              <a:t>Policy complexity</a:t>
            </a:r>
          </a:p>
        </p:txBody>
      </p:sp>
      <p:sp>
        <p:nvSpPr>
          <p:cNvPr id="30" name="TextBox 29"/>
          <p:cNvSpPr txBox="1"/>
          <p:nvPr/>
        </p:nvSpPr>
        <p:spPr>
          <a:xfrm>
            <a:off x="3401568" y="4041648"/>
            <a:ext cx="2459736" cy="1810512"/>
          </a:xfrm>
          <a:prstGeom prst="rect">
            <a:avLst/>
          </a:prstGeom>
          <a:noFill/>
        </p:spPr>
        <p:txBody>
          <a:bodyPr wrap="square">
            <a:spAutoFit/>
          </a:bodyPr>
          <a:lstStyle/>
          <a:p>
            <a:r>
              <a:rPr sz="1200" b="0">
                <a:solidFill>
                  <a:srgbClr val="475569"/>
                </a:solidFill>
                <a:latin typeface="Calibri"/>
              </a:rPr>
              <a:t>Seeded Balanced / Strict / Very Strict profiles; simulator; split governance vs app owners.</a:t>
            </a:r>
          </a:p>
        </p:txBody>
      </p:sp>
      <p:sp>
        <p:nvSpPr>
          <p:cNvPr id="31" name="Rounded Rectangle 30"/>
          <p:cNvSpPr/>
          <p:nvPr/>
        </p:nvSpPr>
        <p:spPr>
          <a:xfrm>
            <a:off x="6126480" y="363931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26480" y="363931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7648" y="3749040"/>
            <a:ext cx="2496312" cy="292608"/>
          </a:xfrm>
          <a:prstGeom prst="rect">
            <a:avLst/>
          </a:prstGeom>
          <a:noFill/>
        </p:spPr>
        <p:txBody>
          <a:bodyPr wrap="square">
            <a:spAutoFit/>
          </a:bodyPr>
          <a:lstStyle/>
          <a:p>
            <a:pPr algn="l"/>
            <a:r>
              <a:rPr sz="1300" b="1">
                <a:solidFill>
                  <a:srgbClr val="1E2F6E"/>
                </a:solidFill>
                <a:latin typeface="Calibri"/>
              </a:rPr>
              <a:t>Regulatory over-claim</a:t>
            </a:r>
          </a:p>
        </p:txBody>
      </p:sp>
      <p:sp>
        <p:nvSpPr>
          <p:cNvPr id="34" name="TextBox 33"/>
          <p:cNvSpPr txBox="1"/>
          <p:nvPr/>
        </p:nvSpPr>
        <p:spPr>
          <a:xfrm>
            <a:off x="6327648" y="4041648"/>
            <a:ext cx="2459736" cy="1810512"/>
          </a:xfrm>
          <a:prstGeom prst="rect">
            <a:avLst/>
          </a:prstGeom>
          <a:noFill/>
        </p:spPr>
        <p:txBody>
          <a:bodyPr wrap="square">
            <a:spAutoFit/>
          </a:bodyPr>
          <a:lstStyle/>
          <a:p>
            <a:r>
              <a:rPr sz="1200" b="0">
                <a:solidFill>
                  <a:srgbClr val="475569"/>
                </a:solidFill>
                <a:latin typeface="Calibri"/>
              </a:rPr>
              <a:t>Regional profiles are configuration only; legal review stays human.</a:t>
            </a:r>
          </a:p>
        </p:txBody>
      </p:sp>
      <p:sp>
        <p:nvSpPr>
          <p:cNvPr id="35" name="Rounded Rectangle 34"/>
          <p:cNvSpPr/>
          <p:nvPr/>
        </p:nvSpPr>
        <p:spPr>
          <a:xfrm>
            <a:off x="9052560" y="3639312"/>
            <a:ext cx="2788920" cy="2286000"/>
          </a:xfrm>
          <a:prstGeom prst="roundRect">
            <a:avLst>
              <a:gd name="adj" fmla="val 8000"/>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52560" y="3639312"/>
            <a:ext cx="73152" cy="228600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53728" y="3749040"/>
            <a:ext cx="2496312" cy="292608"/>
          </a:xfrm>
          <a:prstGeom prst="rect">
            <a:avLst/>
          </a:prstGeom>
          <a:noFill/>
        </p:spPr>
        <p:txBody>
          <a:bodyPr wrap="square">
            <a:spAutoFit/>
          </a:bodyPr>
          <a:lstStyle/>
          <a:p>
            <a:pPr algn="l"/>
            <a:r>
              <a:rPr sz="1300" b="1">
                <a:solidFill>
                  <a:srgbClr val="1E2F6E"/>
                </a:solidFill>
                <a:latin typeface="Calibri"/>
              </a:rPr>
              <a:t>Integration friction</a:t>
            </a:r>
          </a:p>
        </p:txBody>
      </p:sp>
      <p:sp>
        <p:nvSpPr>
          <p:cNvPr id="38" name="TextBox 37"/>
          <p:cNvSpPr txBox="1"/>
          <p:nvPr/>
        </p:nvSpPr>
        <p:spPr>
          <a:xfrm>
            <a:off x="9253728" y="4041648"/>
            <a:ext cx="2459736" cy="1810512"/>
          </a:xfrm>
          <a:prstGeom prst="rect">
            <a:avLst/>
          </a:prstGeom>
          <a:noFill/>
        </p:spPr>
        <p:txBody>
          <a:bodyPr wrap="square">
            <a:spAutoFit/>
          </a:bodyPr>
          <a:lstStyle/>
          <a:p>
            <a:r>
              <a:rPr sz="1200" b="0">
                <a:solidFill>
                  <a:srgbClr val="475569"/>
                </a:solidFill>
                <a:latin typeface="Calibri"/>
              </a:rPr>
              <a:t>API-layer insertion; model-agnostic; no need to own or fine-tune the foundation model.</a:t>
            </a:r>
          </a:p>
        </p:txBody>
      </p:sp>
      <p:sp>
        <p:nvSpPr>
          <p:cNvPr id="39" name="Rectangle 38"/>
          <p:cNvSpPr/>
          <p:nvPr/>
        </p:nvSpPr>
        <p:spPr>
          <a:xfrm>
            <a:off x="0" y="6656832"/>
            <a:ext cx="12191695" cy="201168"/>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656832"/>
            <a:ext cx="7315200" cy="201168"/>
          </a:xfrm>
          <a:prstGeom prst="rect">
            <a:avLst/>
          </a:prstGeom>
          <a:noFill/>
        </p:spPr>
        <p:txBody>
          <a:bodyPr wrap="square">
            <a:spAutoFit/>
          </a:bodyPr>
          <a:lstStyle/>
          <a:p>
            <a:pPr algn="l"/>
            <a:r>
              <a:rPr sz="900" b="0">
                <a:solidFill>
                  <a:srgbClr val="FFFFFF"/>
                </a:solidFill>
                <a:latin typeface="Calibri"/>
              </a:rPr>
              <a:t>ControlPlane.ai  |  Accenture Innovation Challenge 2026  |  Round 2  |  Track 1</a:t>
            </a:r>
          </a:p>
        </p:txBody>
      </p:sp>
      <p:sp>
        <p:nvSpPr>
          <p:cNvPr id="41" name="TextBox 40"/>
          <p:cNvSpPr txBox="1"/>
          <p:nvPr/>
        </p:nvSpPr>
        <p:spPr>
          <a:xfrm>
            <a:off x="10607040" y="6656832"/>
            <a:ext cx="1280160" cy="201168"/>
          </a:xfrm>
          <a:prstGeom prst="rect">
            <a:avLst/>
          </a:prstGeom>
          <a:noFill/>
        </p:spPr>
        <p:txBody>
          <a:bodyPr wrap="square">
            <a:spAutoFit/>
          </a:bodyPr>
          <a:lstStyle/>
          <a:p>
            <a:pPr algn="r"/>
            <a:r>
              <a:rPr sz="900" b="0">
                <a:solidFill>
                  <a:srgbClr val="FFFFFF"/>
                </a:solidFill>
                <a:latin typeface="Calibri"/>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05840"/>
            <a:ext cx="10972800" cy="457200"/>
          </a:xfrm>
          <a:prstGeom prst="rect">
            <a:avLst/>
          </a:prstGeom>
          <a:noFill/>
        </p:spPr>
        <p:txBody>
          <a:bodyPr wrap="square">
            <a:spAutoFit/>
          </a:bodyPr>
          <a:lstStyle/>
          <a:p>
            <a:pPr algn="l"/>
            <a:r>
              <a:rPr sz="1400" b="1">
                <a:solidFill>
                  <a:srgbClr val="93C5FD"/>
                </a:solidFill>
                <a:latin typeface="Calibri"/>
              </a:rPr>
              <a:t>8. Closing recommendation</a:t>
            </a:r>
          </a:p>
        </p:txBody>
      </p:sp>
      <p:sp>
        <p:nvSpPr>
          <p:cNvPr id="5" name="TextBox 4"/>
          <p:cNvSpPr txBox="1"/>
          <p:nvPr/>
        </p:nvSpPr>
        <p:spPr>
          <a:xfrm>
            <a:off x="640080" y="1463040"/>
            <a:ext cx="10972800" cy="1097280"/>
          </a:xfrm>
          <a:prstGeom prst="rect">
            <a:avLst/>
          </a:prstGeom>
          <a:noFill/>
        </p:spPr>
        <p:txBody>
          <a:bodyPr wrap="square">
            <a:spAutoFit/>
          </a:bodyPr>
          <a:lstStyle/>
          <a:p>
            <a:pPr algn="l"/>
            <a:r>
              <a:rPr sz="2600" b="1">
                <a:solidFill>
                  <a:srgbClr val="FFFFFF"/>
                </a:solidFill>
                <a:latin typeface="Calibri"/>
              </a:rPr>
              <a:t>Build the control plane before the next wave of AI applications is too large to govern.</a:t>
            </a:r>
          </a:p>
        </p:txBody>
      </p:sp>
      <p:sp>
        <p:nvSpPr>
          <p:cNvPr id="6" name="TextBox 5"/>
          <p:cNvSpPr txBox="1"/>
          <p:nvPr/>
        </p:nvSpPr>
        <p:spPr>
          <a:xfrm>
            <a:off x="640080" y="2788920"/>
            <a:ext cx="10972800" cy="1280160"/>
          </a:xfrm>
          <a:prstGeom prst="rect">
            <a:avLst/>
          </a:prstGeom>
          <a:noFill/>
        </p:spPr>
        <p:txBody>
          <a:bodyPr wrap="square">
            <a:spAutoFit/>
          </a:bodyPr>
          <a:lstStyle/>
          <a:p>
            <a:pPr algn="l"/>
            <a:r>
              <a:rPr sz="1800" b="0">
                <a:solidFill>
                  <a:srgbClr val="C7D2FE"/>
                </a:solidFill>
                <a:latin typeface="Calibri"/>
              </a:rPr>
              <a:t>Enterprises do not need a perfect oracle. They need a control plane that makes AI use observable, explainable, policy-aware and interruptible.</a:t>
            </a:r>
          </a:p>
        </p:txBody>
      </p:sp>
      <p:sp>
        <p:nvSpPr>
          <p:cNvPr id="7" name="TextBox 6"/>
          <p:cNvSpPr txBox="1"/>
          <p:nvPr/>
        </p:nvSpPr>
        <p:spPr>
          <a:xfrm>
            <a:off x="640080" y="4160520"/>
            <a:ext cx="10972800" cy="365760"/>
          </a:xfrm>
          <a:prstGeom prst="rect">
            <a:avLst/>
          </a:prstGeom>
          <a:noFill/>
        </p:spPr>
        <p:txBody>
          <a:bodyPr wrap="square">
            <a:spAutoFit/>
          </a:bodyPr>
          <a:lstStyle/>
          <a:p>
            <a:pPr algn="l"/>
            <a:r>
              <a:rPr sz="1400" b="0">
                <a:solidFill>
                  <a:srgbClr val="FFFFFF"/>
                </a:solidFill>
                <a:latin typeface="Calibri"/>
              </a:rPr>
              <a:t>1.  Keep this prototype as the demo and design artefact</a:t>
            </a:r>
          </a:p>
        </p:txBody>
      </p:sp>
      <p:sp>
        <p:nvSpPr>
          <p:cNvPr id="8" name="TextBox 7"/>
          <p:cNvSpPr txBox="1"/>
          <p:nvPr/>
        </p:nvSpPr>
        <p:spPr>
          <a:xfrm>
            <a:off x="640080" y="4526280"/>
            <a:ext cx="10972800" cy="365760"/>
          </a:xfrm>
          <a:prstGeom prst="rect">
            <a:avLst/>
          </a:prstGeom>
          <a:noFill/>
        </p:spPr>
        <p:txBody>
          <a:bodyPr wrap="square">
            <a:spAutoFit/>
          </a:bodyPr>
          <a:lstStyle/>
          <a:p>
            <a:pPr algn="l"/>
            <a:r>
              <a:rPr sz="1400" b="0">
                <a:solidFill>
                  <a:srgbClr val="FFFFFF"/>
                </a:solidFill>
                <a:latin typeface="Calibri"/>
              </a:rPr>
              <a:t>2.  Select one design-partner enterprise with three live AI use cases</a:t>
            </a:r>
          </a:p>
        </p:txBody>
      </p:sp>
      <p:sp>
        <p:nvSpPr>
          <p:cNvPr id="9" name="TextBox 8"/>
          <p:cNvSpPr txBox="1"/>
          <p:nvPr/>
        </p:nvSpPr>
        <p:spPr>
          <a:xfrm>
            <a:off x="640080" y="4892040"/>
            <a:ext cx="10972800" cy="365760"/>
          </a:xfrm>
          <a:prstGeom prst="rect">
            <a:avLst/>
          </a:prstGeom>
          <a:noFill/>
        </p:spPr>
        <p:txBody>
          <a:bodyPr wrap="square">
            <a:spAutoFit/>
          </a:bodyPr>
          <a:lstStyle/>
          <a:p>
            <a:pPr algn="l"/>
            <a:r>
              <a:rPr sz="1400" b="0">
                <a:solidFill>
                  <a:srgbClr val="FFFFFF"/>
                </a:solidFill>
                <a:latin typeface="Calibri"/>
              </a:rPr>
              <a:t>3.  Replace simulated documents with approved sources</a:t>
            </a:r>
          </a:p>
        </p:txBody>
      </p:sp>
      <p:sp>
        <p:nvSpPr>
          <p:cNvPr id="10" name="TextBox 9"/>
          <p:cNvSpPr txBox="1"/>
          <p:nvPr/>
        </p:nvSpPr>
        <p:spPr>
          <a:xfrm>
            <a:off x="640080" y="5257800"/>
            <a:ext cx="10972800" cy="365760"/>
          </a:xfrm>
          <a:prstGeom prst="rect">
            <a:avLst/>
          </a:prstGeom>
          <a:noFill/>
        </p:spPr>
        <p:txBody>
          <a:bodyPr wrap="square">
            <a:spAutoFit/>
          </a:bodyPr>
          <a:lstStyle/>
          <a:p>
            <a:pPr algn="l"/>
            <a:r>
              <a:rPr sz="1400" b="0">
                <a:solidFill>
                  <a:srgbClr val="FFFFFF"/>
                </a:solidFill>
                <a:latin typeface="Calibri"/>
              </a:rPr>
              <a:t>4.  Run a 90-day policy-tuning pilot with measured FP rate, latency and reviewer load</a:t>
            </a:r>
          </a:p>
        </p:txBody>
      </p:sp>
      <p:sp>
        <p:nvSpPr>
          <p:cNvPr id="11" name="TextBox 10"/>
          <p:cNvSpPr txBox="1"/>
          <p:nvPr/>
        </p:nvSpPr>
        <p:spPr>
          <a:xfrm>
            <a:off x="640080" y="5852160"/>
            <a:ext cx="10972800" cy="365760"/>
          </a:xfrm>
          <a:prstGeom prst="rect">
            <a:avLst/>
          </a:prstGeom>
          <a:noFill/>
        </p:spPr>
        <p:txBody>
          <a:bodyPr wrap="square">
            <a:spAutoFit/>
          </a:bodyPr>
          <a:lstStyle/>
          <a:p>
            <a:pPr algn="l"/>
            <a:r>
              <a:rPr sz="1200" b="0">
                <a:solidFill>
                  <a:srgbClr val="93C5FD"/>
                </a:solidFill>
                <a:latin typeface="Calibri"/>
              </a:rPr>
              <a:t>ControlPlane.ai  ·  Accenture Innovation Challenge 2026  ·  Round 2  ·  Track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